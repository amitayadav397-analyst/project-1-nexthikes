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8430571-57E5-CF93-C454-08827FD4BA5A}">
          <p14:sldIdLst>
            <p14:sldId id="256"/>
            <p14:sldId id="257"/>
          </p14:sldIdLst>
        </p14:section>
        <p14:section name="Context &amp; data" id="{77A7A564-0B9D-B632-AA63-8F7D247DABC7}">
          <p14:sldIdLst>
            <p14:sldId id="258"/>
            <p14:sldId id="259"/>
            <p14:sldId id="260"/>
            <p14:sldId id="261"/>
          </p14:sldIdLst>
        </p14:section>
        <p14:section name="Findings" id="{1173CBF5-878B-6B10-D0A5-5A4D7BBA41BA}">
          <p14:sldIdLst>
            <p14:sldId id="262"/>
            <p14:sldId id="263"/>
            <p14:sldId id="264"/>
            <p14:sldId id="265"/>
            <p14:sldId id="266"/>
            <p14:sldId id="267"/>
          </p14:sldIdLst>
        </p14:section>
        <p14:section name="Tools" id="{9409D461-568A-3014-2C1A-BC061453A9F5}">
          <p14:sldIdLst>
            <p14:sldId id="268"/>
            <p14:sldId id="269"/>
          </p14:sldIdLst>
        </p14:section>
        <p14:section name="Recommendations" id="{EFE7416E-7084-2CE7-06DE-909B8A74E594}">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Rider mix (share of all rentals)</a:t>
            </a:r>
          </a:p>
        </c:rich>
      </c:tx>
      <c:overlay val="0"/>
    </c:title>
    <c:autoTitleDeleted val="0"/>
    <c:plotArea>
      <c:layout/>
      <c:barChart>
        <c:barDir val="bar"/>
        <c:grouping val="stacked"/>
        <c:varyColors val="0"/>
        <c:ser>
          <c:idx val="0"/>
          <c:order val="0"/>
          <c:tx>
            <c:strRef>
              <c:f>Sheet1!$B$1</c:f>
              <c:strCache>
                <c:ptCount val="1"/>
                <c:pt idx="0">
                  <c:v>Registered</c:v>
                </c:pt>
              </c:strCache>
            </c:strRef>
          </c:tx>
          <c:spPr>
            <a:solidFill>
              <a:srgbClr val="B5785F"/>
            </a:solidFill>
            <a:effectLst/>
          </c:spPr>
          <c:invertIfNegative val="0"/>
          <c:dLbls>
            <c:numFmt formatCode="0.0&quot;%&quot;" sourceLinked="0"/>
            <c:spPr>
              <a:noFill/>
              <a:ln>
                <a:noFill/>
              </a:ln>
              <a:effectLst/>
            </c:spPr>
            <c:txPr>
              <a:bodyPr/>
              <a:lstStyle/>
              <a:p>
                <a:pPr>
                  <a:defRPr sz="14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All rentals</c:v>
                </c:pt>
              </c:strCache>
            </c:strRef>
          </c:cat>
          <c:val>
            <c:numRef>
              <c:f>Sheet1!$B$2:$B$2</c:f>
              <c:numCache>
                <c:formatCode>General</c:formatCode>
                <c:ptCount val="1"/>
                <c:pt idx="0">
                  <c:v>91.6</c:v>
                </c:pt>
              </c:numCache>
            </c:numRef>
          </c:val>
          <c:extLst>
            <c:ext xmlns:c16="http://schemas.microsoft.com/office/drawing/2014/chart" uri="{C3380CC4-5D6E-409C-BE32-E72D297353CC}">
              <c16:uniqueId val="{00000000-F84E-D345-9FB7-009347B219D2}"/>
            </c:ext>
          </c:extLst>
        </c:ser>
        <c:ser>
          <c:idx val="1"/>
          <c:order val="1"/>
          <c:tx>
            <c:strRef>
              <c:f>Sheet1!$C$1</c:f>
              <c:strCache>
                <c:ptCount val="1"/>
                <c:pt idx="0">
                  <c:v>Casual</c:v>
                </c:pt>
              </c:strCache>
            </c:strRef>
          </c:tx>
          <c:spPr>
            <a:solidFill>
              <a:srgbClr val="9AA1A8"/>
            </a:solidFill>
            <a:effectLst/>
          </c:spPr>
          <c:invertIfNegative val="0"/>
          <c:dLbls>
            <c:numFmt formatCode="0.0&quot;%&quot;" sourceLinked="0"/>
            <c:spPr>
              <a:noFill/>
              <a:ln>
                <a:noFill/>
              </a:ln>
              <a:effectLst/>
            </c:spPr>
            <c:txPr>
              <a:bodyPr/>
              <a:lstStyle/>
              <a:p>
                <a:pPr>
                  <a:defRPr sz="1400" b="1"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All rentals</c:v>
                </c:pt>
              </c:strCache>
            </c:strRef>
          </c:cat>
          <c:val>
            <c:numRef>
              <c:f>Sheet1!$C$2:$C$2</c:f>
              <c:numCache>
                <c:formatCode>General</c:formatCode>
                <c:ptCount val="1"/>
                <c:pt idx="0">
                  <c:v>8.4</c:v>
                </c:pt>
              </c:numCache>
            </c:numRef>
          </c:val>
          <c:extLst>
            <c:ext xmlns:c16="http://schemas.microsoft.com/office/drawing/2014/chart" uri="{C3380CC4-5D6E-409C-BE32-E72D297353CC}">
              <c16:uniqueId val="{00000001-F84E-D345-9FB7-009347B219D2}"/>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inMax"/>
        </c:scaling>
        <c:delete val="1"/>
        <c:axPos val="l"/>
        <c:numFmt formatCode="General" sourceLinked="1"/>
        <c:majorTickMark val="out"/>
        <c:minorTickMark val="none"/>
        <c:tickLblPos val="nextTo"/>
        <c:crossAx val="2094734552"/>
        <c:crosses val="autoZero"/>
        <c:auto val="1"/>
        <c:lblAlgn val="ctr"/>
        <c:lblOffset val="100"/>
        <c:noMultiLvlLbl val="1"/>
      </c:catAx>
      <c:valAx>
        <c:axId val="2094734552"/>
        <c:scaling>
          <c:orientation val="minMax"/>
          <c:max val="100"/>
          <c:min val="0"/>
        </c:scaling>
        <c:delete val="0"/>
        <c:axPos val="b"/>
        <c:majorGridlines>
          <c:spPr>
            <a:ln w="9525" cap="flat">
              <a:solidFill>
                <a:srgbClr val="DCDDD8"/>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2B2B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Average rentals per hour, by hour of day (0 = midnight)</a:t>
            </a:r>
          </a:p>
        </c:rich>
      </c:tx>
      <c:overlay val="0"/>
    </c:title>
    <c:autoTitleDeleted val="0"/>
    <c:plotArea>
      <c:layout/>
      <c:lineChart>
        <c:grouping val="standard"/>
        <c:varyColors val="0"/>
        <c:ser>
          <c:idx val="0"/>
          <c:order val="0"/>
          <c:tx>
            <c:strRef>
              <c:f>Sheet1!$B$1</c:f>
              <c:strCache>
                <c:ptCount val="1"/>
                <c:pt idx="0">
                  <c:v>Total</c:v>
                </c:pt>
              </c:strCache>
            </c:strRef>
          </c:tx>
          <c:spPr>
            <a:ln w="31750" cap="flat">
              <a:solidFill>
                <a:srgbClr val="B5785F"/>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General</c:formatCode>
                <c:ptCount val="24"/>
                <c:pt idx="0">
                  <c:v>16.3</c:v>
                </c:pt>
                <c:pt idx="1">
                  <c:v>10.7</c:v>
                </c:pt>
                <c:pt idx="2">
                  <c:v>7.2</c:v>
                </c:pt>
                <c:pt idx="3">
                  <c:v>4.9000000000000004</c:v>
                </c:pt>
                <c:pt idx="4">
                  <c:v>2.2000000000000002</c:v>
                </c:pt>
                <c:pt idx="5">
                  <c:v>4.2</c:v>
                </c:pt>
                <c:pt idx="6">
                  <c:v>19.600000000000001</c:v>
                </c:pt>
                <c:pt idx="7">
                  <c:v>54.4</c:v>
                </c:pt>
                <c:pt idx="8">
                  <c:v>128.30000000000001</c:v>
                </c:pt>
                <c:pt idx="9">
                  <c:v>87.4</c:v>
                </c:pt>
                <c:pt idx="10">
                  <c:v>53.6</c:v>
                </c:pt>
                <c:pt idx="11">
                  <c:v>59.4</c:v>
                </c:pt>
                <c:pt idx="12">
                  <c:v>76.3</c:v>
                </c:pt>
                <c:pt idx="13">
                  <c:v>78.5</c:v>
                </c:pt>
                <c:pt idx="14">
                  <c:v>74.400000000000006</c:v>
                </c:pt>
                <c:pt idx="15">
                  <c:v>78</c:v>
                </c:pt>
                <c:pt idx="16">
                  <c:v>89.3</c:v>
                </c:pt>
                <c:pt idx="17">
                  <c:v>140.19999999999999</c:v>
                </c:pt>
                <c:pt idx="18">
                  <c:v>122.9</c:v>
                </c:pt>
                <c:pt idx="19">
                  <c:v>85.1</c:v>
                </c:pt>
                <c:pt idx="20">
                  <c:v>61.8</c:v>
                </c:pt>
                <c:pt idx="21">
                  <c:v>46.4</c:v>
                </c:pt>
                <c:pt idx="22">
                  <c:v>35.1</c:v>
                </c:pt>
                <c:pt idx="23">
                  <c:v>25.2</c:v>
                </c:pt>
              </c:numCache>
            </c:numRef>
          </c:val>
          <c:smooth val="0"/>
          <c:extLst>
            <c:ext xmlns:c16="http://schemas.microsoft.com/office/drawing/2014/chart" uri="{C3380CC4-5D6E-409C-BE32-E72D297353CC}">
              <c16:uniqueId val="{00000000-ED98-EB44-BF84-4DA086B9D42A}"/>
            </c:ext>
          </c:extLst>
        </c:ser>
        <c:ser>
          <c:idx val="1"/>
          <c:order val="1"/>
          <c:tx>
            <c:strRef>
              <c:f>Sheet1!$C$1</c:f>
              <c:strCache>
                <c:ptCount val="1"/>
                <c:pt idx="0">
                  <c:v>Registered</c:v>
                </c:pt>
              </c:strCache>
            </c:strRef>
          </c:tx>
          <c:spPr>
            <a:ln w="31750" cap="flat">
              <a:solidFill>
                <a:srgbClr val="6B8F8E"/>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General</c:formatCode>
                <c:ptCount val="24"/>
                <c:pt idx="0">
                  <c:v>14.6</c:v>
                </c:pt>
                <c:pt idx="1">
                  <c:v>9.6</c:v>
                </c:pt>
                <c:pt idx="2">
                  <c:v>6.4</c:v>
                </c:pt>
                <c:pt idx="3">
                  <c:v>3.8</c:v>
                </c:pt>
                <c:pt idx="4">
                  <c:v>1.9</c:v>
                </c:pt>
                <c:pt idx="5">
                  <c:v>4.0999999999999996</c:v>
                </c:pt>
                <c:pt idx="6">
                  <c:v>19.100000000000001</c:v>
                </c:pt>
                <c:pt idx="7">
                  <c:v>52.9</c:v>
                </c:pt>
                <c:pt idx="8">
                  <c:v>125.3</c:v>
                </c:pt>
                <c:pt idx="9">
                  <c:v>83.3</c:v>
                </c:pt>
                <c:pt idx="10">
                  <c:v>48.5</c:v>
                </c:pt>
                <c:pt idx="11">
                  <c:v>50.6</c:v>
                </c:pt>
                <c:pt idx="12">
                  <c:v>65.099999999999994</c:v>
                </c:pt>
                <c:pt idx="13">
                  <c:v>66.599999999999994</c:v>
                </c:pt>
                <c:pt idx="14">
                  <c:v>63.6</c:v>
                </c:pt>
                <c:pt idx="15">
                  <c:v>65.5</c:v>
                </c:pt>
                <c:pt idx="16">
                  <c:v>78.099999999999994</c:v>
                </c:pt>
                <c:pt idx="17">
                  <c:v>131.19999999999999</c:v>
                </c:pt>
                <c:pt idx="18">
                  <c:v>117.7</c:v>
                </c:pt>
                <c:pt idx="19">
                  <c:v>80.8</c:v>
                </c:pt>
                <c:pt idx="20">
                  <c:v>58.5</c:v>
                </c:pt>
                <c:pt idx="21">
                  <c:v>43.7</c:v>
                </c:pt>
                <c:pt idx="22">
                  <c:v>32.700000000000003</c:v>
                </c:pt>
                <c:pt idx="23">
                  <c:v>22.8</c:v>
                </c:pt>
              </c:numCache>
            </c:numRef>
          </c:val>
          <c:smooth val="0"/>
          <c:extLst>
            <c:ext xmlns:c16="http://schemas.microsoft.com/office/drawing/2014/chart" uri="{C3380CC4-5D6E-409C-BE32-E72D297353CC}">
              <c16:uniqueId val="{00000001-ED98-EB44-BF84-4DA086B9D42A}"/>
            </c:ext>
          </c:extLst>
        </c:ser>
        <c:ser>
          <c:idx val="2"/>
          <c:order val="2"/>
          <c:tx>
            <c:strRef>
              <c:f>Sheet1!$D$1</c:f>
              <c:strCache>
                <c:ptCount val="1"/>
                <c:pt idx="0">
                  <c:v>Casual</c:v>
                </c:pt>
              </c:strCache>
            </c:strRef>
          </c:tx>
          <c:spPr>
            <a:ln w="31750" cap="flat">
              <a:solidFill>
                <a:srgbClr val="9AA1A8"/>
              </a:solidFill>
              <a:prstDash val="solid"/>
              <a:round/>
            </a:ln>
            <a:effectLst/>
          </c:spPr>
          <c:marker>
            <c:symbol val="none"/>
          </c:marker>
          <c:cat>
            <c:strRef>
              <c:f>Sheet1!$A$2:$A$25</c:f>
              <c:strCach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General</c:formatCode>
                <c:ptCount val="24"/>
                <c:pt idx="0">
                  <c:v>1.7</c:v>
                </c:pt>
                <c:pt idx="1">
                  <c:v>1.1000000000000001</c:v>
                </c:pt>
                <c:pt idx="2">
                  <c:v>0.8</c:v>
                </c:pt>
                <c:pt idx="3">
                  <c:v>1.1000000000000001</c:v>
                </c:pt>
                <c:pt idx="4">
                  <c:v>0.2</c:v>
                </c:pt>
                <c:pt idx="5">
                  <c:v>0.1</c:v>
                </c:pt>
                <c:pt idx="6">
                  <c:v>0.5</c:v>
                </c:pt>
                <c:pt idx="7">
                  <c:v>1.5</c:v>
                </c:pt>
                <c:pt idx="8">
                  <c:v>3</c:v>
                </c:pt>
                <c:pt idx="9">
                  <c:v>4.0999999999999996</c:v>
                </c:pt>
                <c:pt idx="10">
                  <c:v>5.0999999999999996</c:v>
                </c:pt>
                <c:pt idx="11">
                  <c:v>8.6999999999999993</c:v>
                </c:pt>
                <c:pt idx="12">
                  <c:v>11.2</c:v>
                </c:pt>
                <c:pt idx="13">
                  <c:v>11.9</c:v>
                </c:pt>
                <c:pt idx="14">
                  <c:v>10.8</c:v>
                </c:pt>
                <c:pt idx="15">
                  <c:v>12.5</c:v>
                </c:pt>
                <c:pt idx="16">
                  <c:v>11.2</c:v>
                </c:pt>
                <c:pt idx="17">
                  <c:v>9</c:v>
                </c:pt>
                <c:pt idx="18">
                  <c:v>5.2</c:v>
                </c:pt>
                <c:pt idx="19">
                  <c:v>4.3</c:v>
                </c:pt>
                <c:pt idx="20">
                  <c:v>3.3</c:v>
                </c:pt>
                <c:pt idx="21">
                  <c:v>2.7</c:v>
                </c:pt>
                <c:pt idx="22">
                  <c:v>2.4</c:v>
                </c:pt>
                <c:pt idx="23">
                  <c:v>2.2999999999999998</c:v>
                </c:pt>
              </c:numCache>
            </c:numRef>
          </c:val>
          <c:smooth val="0"/>
          <c:extLst>
            <c:ext xmlns:c16="http://schemas.microsoft.com/office/drawing/2014/chart" uri="{C3380CC4-5D6E-409C-BE32-E72D297353CC}">
              <c16:uniqueId val="{00000002-ED98-EB44-BF84-4DA086B9D42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160"/>
          <c:min val="0"/>
        </c:scaling>
        <c:delete val="0"/>
        <c:axPos val="l"/>
        <c:majorGridlines>
          <c:spPr>
            <a:ln w="9525" cap="flat">
              <a:solidFill>
                <a:srgbClr val="DCDDD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40"/>
      </c:valAx>
      <c:spPr>
        <a:noFill/>
        <a:ln>
          <a:noFill/>
        </a:ln>
        <a:effectLst/>
      </c:spPr>
    </c:plotArea>
    <c:legend>
      <c:legendPos val="b"/>
      <c:overlay val="0"/>
      <c:txPr>
        <a:bodyPr/>
        <a:lstStyle/>
        <a:p>
          <a:pPr>
            <a:defRPr sz="1200">
              <a:solidFill>
                <a:srgbClr val="2B2B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Average rentals per hour, by day of week</a:t>
            </a:r>
          </a:p>
        </c:rich>
      </c:tx>
      <c:overlay val="0"/>
    </c:title>
    <c:autoTitleDeleted val="0"/>
    <c:plotArea>
      <c:layout/>
      <c:barChart>
        <c:barDir val="col"/>
        <c:grouping val="clustered"/>
        <c:varyColors val="0"/>
        <c:ser>
          <c:idx val="0"/>
          <c:order val="0"/>
          <c:tx>
            <c:strRef>
              <c:f>Sheet1!$B$1</c:f>
              <c:strCache>
                <c:ptCount val="1"/>
                <c:pt idx="0">
                  <c:v>Registered</c:v>
                </c:pt>
              </c:strCache>
            </c:strRef>
          </c:tx>
          <c:spPr>
            <a:solidFill>
              <a:srgbClr val="6B8F8E"/>
            </a:solidFill>
            <a:effectLst/>
          </c:spPr>
          <c:invertIfNegative val="0"/>
          <c:dLbls>
            <c:numFmt formatCode="0.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Sheet1!$B$2:$B$8</c:f>
              <c:numCache>
                <c:formatCode>General</c:formatCode>
                <c:ptCount val="7"/>
                <c:pt idx="0">
                  <c:v>53.1</c:v>
                </c:pt>
                <c:pt idx="1">
                  <c:v>62.4</c:v>
                </c:pt>
                <c:pt idx="2">
                  <c:v>58.8</c:v>
                </c:pt>
                <c:pt idx="3">
                  <c:v>65</c:v>
                </c:pt>
                <c:pt idx="4">
                  <c:v>61.9</c:v>
                </c:pt>
                <c:pt idx="5">
                  <c:v>39.299999999999997</c:v>
                </c:pt>
                <c:pt idx="6">
                  <c:v>40.5</c:v>
                </c:pt>
              </c:numCache>
            </c:numRef>
          </c:val>
          <c:extLst>
            <c:ext xmlns:c16="http://schemas.microsoft.com/office/drawing/2014/chart" uri="{C3380CC4-5D6E-409C-BE32-E72D297353CC}">
              <c16:uniqueId val="{00000000-F961-DA44-B948-FD9575DE1A78}"/>
            </c:ext>
          </c:extLst>
        </c:ser>
        <c:ser>
          <c:idx val="1"/>
          <c:order val="1"/>
          <c:tx>
            <c:strRef>
              <c:f>Sheet1!$C$1</c:f>
              <c:strCache>
                <c:ptCount val="1"/>
                <c:pt idx="0">
                  <c:v>Casual</c:v>
                </c:pt>
              </c:strCache>
            </c:strRef>
          </c:tx>
          <c:spPr>
            <a:solidFill>
              <a:srgbClr val="B5785F"/>
            </a:solidFill>
            <a:effectLst/>
          </c:spPr>
          <c:invertIfNegative val="0"/>
          <c:dLbls>
            <c:numFmt formatCode="0.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Mon</c:v>
                </c:pt>
                <c:pt idx="1">
                  <c:v>Tue</c:v>
                </c:pt>
                <c:pt idx="2">
                  <c:v>Wed</c:v>
                </c:pt>
                <c:pt idx="3">
                  <c:v>Thu</c:v>
                </c:pt>
                <c:pt idx="4">
                  <c:v>Fri</c:v>
                </c:pt>
                <c:pt idx="5">
                  <c:v>Sat</c:v>
                </c:pt>
                <c:pt idx="6">
                  <c:v>Sun</c:v>
                </c:pt>
              </c:strCache>
            </c:strRef>
          </c:cat>
          <c:val>
            <c:numRef>
              <c:f>Sheet1!$C$2:$C$8</c:f>
              <c:numCache>
                <c:formatCode>General</c:formatCode>
                <c:ptCount val="7"/>
                <c:pt idx="0">
                  <c:v>3.6</c:v>
                </c:pt>
                <c:pt idx="1">
                  <c:v>3.6</c:v>
                </c:pt>
                <c:pt idx="2">
                  <c:v>2.6</c:v>
                </c:pt>
                <c:pt idx="3">
                  <c:v>2.7</c:v>
                </c:pt>
                <c:pt idx="4">
                  <c:v>4</c:v>
                </c:pt>
                <c:pt idx="5">
                  <c:v>7.4</c:v>
                </c:pt>
                <c:pt idx="6">
                  <c:v>9</c:v>
                </c:pt>
              </c:numCache>
            </c:numRef>
          </c:val>
          <c:extLst>
            <c:ext xmlns:c16="http://schemas.microsoft.com/office/drawing/2014/chart" uri="{C3380CC4-5D6E-409C-BE32-E72D297353CC}">
              <c16:uniqueId val="{00000001-F961-DA44-B948-FD9575DE1A7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DCDDD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2B2B2B"/>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Average rentals per hour, by weather (hours observed)</a:t>
            </a:r>
          </a:p>
        </c:rich>
      </c:tx>
      <c:overlay val="0"/>
    </c:title>
    <c:autoTitleDeleted val="0"/>
    <c:plotArea>
      <c:layout/>
      <c:barChart>
        <c:barDir val="col"/>
        <c:grouping val="clustered"/>
        <c:varyColors val="0"/>
        <c:ser>
          <c:idx val="0"/>
          <c:order val="0"/>
          <c:tx>
            <c:strRef>
              <c:f>Sheet1!$B$1</c:f>
              <c:strCache>
                <c:ptCount val="1"/>
                <c:pt idx="0">
                  <c:v>Avg rentals/hour</c:v>
                </c:pt>
              </c:strCache>
            </c:strRef>
          </c:tx>
          <c:spPr>
            <a:solidFill>
              <a:srgbClr val="9AA1A8"/>
            </a:solidFill>
            <a:effectLst/>
          </c:spPr>
          <c:invertIfNegative val="0"/>
          <c:dPt>
            <c:idx val="0"/>
            <c:invertIfNegative val="0"/>
            <c:bubble3D val="0"/>
            <c:extLst>
              <c:ext xmlns:c16="http://schemas.microsoft.com/office/drawing/2014/chart" uri="{C3380CC4-5D6E-409C-BE32-E72D297353CC}">
                <c16:uniqueId val="{00000001-C805-824A-A450-87F12E370083}"/>
              </c:ext>
            </c:extLst>
          </c:dPt>
          <c:dPt>
            <c:idx val="1"/>
            <c:invertIfNegative val="0"/>
            <c:bubble3D val="0"/>
            <c:extLst>
              <c:ext xmlns:c16="http://schemas.microsoft.com/office/drawing/2014/chart" uri="{C3380CC4-5D6E-409C-BE32-E72D297353CC}">
                <c16:uniqueId val="{00000003-C805-824A-A450-87F12E370083}"/>
              </c:ext>
            </c:extLst>
          </c:dPt>
          <c:dPt>
            <c:idx val="2"/>
            <c:invertIfNegative val="0"/>
            <c:bubble3D val="0"/>
            <c:spPr>
              <a:solidFill>
                <a:srgbClr val="B5785F"/>
              </a:solidFill>
              <a:effectLst/>
            </c:spPr>
            <c:extLst>
              <c:ext xmlns:c16="http://schemas.microsoft.com/office/drawing/2014/chart" uri="{C3380CC4-5D6E-409C-BE32-E72D297353CC}">
                <c16:uniqueId val="{00000005-C805-824A-A450-87F12E370083}"/>
              </c:ext>
            </c:extLst>
          </c:dPt>
          <c:dPt>
            <c:idx val="3"/>
            <c:invertIfNegative val="0"/>
            <c:bubble3D val="0"/>
            <c:spPr>
              <a:solidFill>
                <a:srgbClr val="DCDDD8"/>
              </a:solidFill>
              <a:effectLst/>
            </c:spPr>
            <c:extLst>
              <c:ext xmlns:c16="http://schemas.microsoft.com/office/drawing/2014/chart" uri="{C3380CC4-5D6E-409C-BE32-E72D297353CC}">
                <c16:uniqueId val="{00000007-C805-824A-A450-87F12E370083}"/>
              </c:ext>
            </c:extLst>
          </c:dPt>
          <c:dLbls>
            <c:numFmt formatCode="0.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Clear (606 h)</c:v>
                </c:pt>
                <c:pt idx="1">
                  <c:v>Cloudy/mist (309 h)</c:v>
                </c:pt>
                <c:pt idx="2">
                  <c:v>Light rain/snow (84 h)</c:v>
                </c:pt>
                <c:pt idx="3">
                  <c:v>Heavy rain (1 h)</c:v>
                </c:pt>
              </c:strCache>
            </c:strRef>
          </c:cat>
          <c:val>
            <c:numRef>
              <c:f>Sheet1!$B$2:$B$5</c:f>
              <c:numCache>
                <c:formatCode>General</c:formatCode>
                <c:ptCount val="4"/>
                <c:pt idx="0">
                  <c:v>61.7</c:v>
                </c:pt>
                <c:pt idx="1">
                  <c:v>58.6</c:v>
                </c:pt>
                <c:pt idx="2">
                  <c:v>33.200000000000003</c:v>
                </c:pt>
                <c:pt idx="3">
                  <c:v>36</c:v>
                </c:pt>
              </c:numCache>
            </c:numRef>
          </c:val>
          <c:extLst>
            <c:ext xmlns:c16="http://schemas.microsoft.com/office/drawing/2014/chart" uri="{C3380CC4-5D6E-409C-BE32-E72D297353CC}">
              <c16:uniqueId val="{00000008-C805-824A-A450-87F12E370083}"/>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80"/>
          <c:min val="0"/>
        </c:scaling>
        <c:delete val="0"/>
        <c:axPos val="l"/>
        <c:majorGridlines>
          <c:spPr>
            <a:ln w="9525" cap="flat">
              <a:solidFill>
                <a:srgbClr val="DCDDD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Avg rentals/hour by temperature</a:t>
            </a:r>
          </a:p>
        </c:rich>
      </c:tx>
      <c:overlay val="0"/>
    </c:title>
    <c:autoTitleDeleted val="0"/>
    <c:plotArea>
      <c:layout/>
      <c:barChart>
        <c:barDir val="col"/>
        <c:grouping val="clustered"/>
        <c:varyColors val="0"/>
        <c:ser>
          <c:idx val="0"/>
          <c:order val="0"/>
          <c:tx>
            <c:strRef>
              <c:f>Sheet1!$B$1</c:f>
              <c:strCache>
                <c:ptCount val="1"/>
                <c:pt idx="0">
                  <c:v>Avg rentals/hour</c:v>
                </c:pt>
              </c:strCache>
            </c:strRef>
          </c:tx>
          <c:spPr>
            <a:solidFill>
              <a:srgbClr val="9AA1A8"/>
            </a:solidFill>
            <a:effectLst/>
          </c:spPr>
          <c:invertIfNegative val="0"/>
          <c:dPt>
            <c:idx val="0"/>
            <c:invertIfNegative val="0"/>
            <c:bubble3D val="0"/>
            <c:extLst>
              <c:ext xmlns:c16="http://schemas.microsoft.com/office/drawing/2014/chart" uri="{C3380CC4-5D6E-409C-BE32-E72D297353CC}">
                <c16:uniqueId val="{00000001-B941-9A4B-8535-D44BA82605C9}"/>
              </c:ext>
            </c:extLst>
          </c:dPt>
          <c:dPt>
            <c:idx val="1"/>
            <c:invertIfNegative val="0"/>
            <c:bubble3D val="0"/>
            <c:extLst>
              <c:ext xmlns:c16="http://schemas.microsoft.com/office/drawing/2014/chart" uri="{C3380CC4-5D6E-409C-BE32-E72D297353CC}">
                <c16:uniqueId val="{00000003-B941-9A4B-8535-D44BA82605C9}"/>
              </c:ext>
            </c:extLst>
          </c:dPt>
          <c:dPt>
            <c:idx val="2"/>
            <c:invertIfNegative val="0"/>
            <c:bubble3D val="0"/>
            <c:spPr>
              <a:solidFill>
                <a:srgbClr val="B5785F"/>
              </a:solidFill>
              <a:effectLst/>
            </c:spPr>
            <c:extLst>
              <c:ext xmlns:c16="http://schemas.microsoft.com/office/drawing/2014/chart" uri="{C3380CC4-5D6E-409C-BE32-E72D297353CC}">
                <c16:uniqueId val="{00000005-B941-9A4B-8535-D44BA82605C9}"/>
              </c:ext>
            </c:extLst>
          </c:dPt>
          <c:dLbls>
            <c:numFmt formatCode="0.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Cold</c:v>
                </c:pt>
                <c:pt idx="1">
                  <c:v>Mild</c:v>
                </c:pt>
                <c:pt idx="2">
                  <c:v>Warm</c:v>
                </c:pt>
              </c:strCache>
            </c:strRef>
          </c:cat>
          <c:val>
            <c:numRef>
              <c:f>Sheet1!$B$2:$B$4</c:f>
              <c:numCache>
                <c:formatCode>General</c:formatCode>
                <c:ptCount val="3"/>
                <c:pt idx="0">
                  <c:v>47.7</c:v>
                </c:pt>
                <c:pt idx="1">
                  <c:v>60</c:v>
                </c:pt>
                <c:pt idx="2">
                  <c:v>85.7</c:v>
                </c:pt>
              </c:numCache>
            </c:numRef>
          </c:val>
          <c:extLst>
            <c:ext xmlns:c16="http://schemas.microsoft.com/office/drawing/2014/chart" uri="{C3380CC4-5D6E-409C-BE32-E72D297353CC}">
              <c16:uniqueId val="{00000006-B941-9A4B-8535-D44BA82605C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CDDD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Avg rentals/hour by humidity</a:t>
            </a:r>
          </a:p>
        </c:rich>
      </c:tx>
      <c:overlay val="0"/>
    </c:title>
    <c:autoTitleDeleted val="0"/>
    <c:plotArea>
      <c:layout/>
      <c:barChart>
        <c:barDir val="col"/>
        <c:grouping val="clustered"/>
        <c:varyColors val="0"/>
        <c:ser>
          <c:idx val="0"/>
          <c:order val="0"/>
          <c:tx>
            <c:strRef>
              <c:f>Sheet1!$B$1</c:f>
              <c:strCache>
                <c:ptCount val="1"/>
                <c:pt idx="0">
                  <c:v>Avg rentals/hour</c:v>
                </c:pt>
              </c:strCache>
            </c:strRef>
          </c:tx>
          <c:spPr>
            <a:solidFill>
              <a:srgbClr val="B5785F"/>
            </a:solidFill>
            <a:effectLst/>
          </c:spPr>
          <c:invertIfNegative val="0"/>
          <c:dPt>
            <c:idx val="0"/>
            <c:invertIfNegative val="0"/>
            <c:bubble3D val="0"/>
            <c:extLst>
              <c:ext xmlns:c16="http://schemas.microsoft.com/office/drawing/2014/chart" uri="{C3380CC4-5D6E-409C-BE32-E72D297353CC}">
                <c16:uniqueId val="{00000001-0FB6-1543-9CF6-5BFDBEE8E6BC}"/>
              </c:ext>
            </c:extLst>
          </c:dPt>
          <c:dPt>
            <c:idx val="1"/>
            <c:invertIfNegative val="0"/>
            <c:bubble3D val="0"/>
            <c:spPr>
              <a:solidFill>
                <a:srgbClr val="9AA1A8"/>
              </a:solidFill>
              <a:effectLst/>
            </c:spPr>
            <c:extLst>
              <c:ext xmlns:c16="http://schemas.microsoft.com/office/drawing/2014/chart" uri="{C3380CC4-5D6E-409C-BE32-E72D297353CC}">
                <c16:uniqueId val="{00000003-0FB6-1543-9CF6-5BFDBEE8E6BC}"/>
              </c:ext>
            </c:extLst>
          </c:dPt>
          <c:dPt>
            <c:idx val="2"/>
            <c:invertIfNegative val="0"/>
            <c:bubble3D val="0"/>
            <c:spPr>
              <a:solidFill>
                <a:srgbClr val="9AA1A8"/>
              </a:solidFill>
              <a:effectLst/>
            </c:spPr>
            <c:extLst>
              <c:ext xmlns:c16="http://schemas.microsoft.com/office/drawing/2014/chart" uri="{C3380CC4-5D6E-409C-BE32-E72D297353CC}">
                <c16:uniqueId val="{00000005-0FB6-1543-9CF6-5BFDBEE8E6BC}"/>
              </c:ext>
            </c:extLst>
          </c:dPt>
          <c:dLbls>
            <c:numFmt formatCode="0.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73.099999999999994</c:v>
                </c:pt>
                <c:pt idx="1">
                  <c:v>53.1</c:v>
                </c:pt>
                <c:pt idx="2">
                  <c:v>42.1</c:v>
                </c:pt>
              </c:numCache>
            </c:numRef>
          </c:val>
          <c:extLst>
            <c:ext xmlns:c16="http://schemas.microsoft.com/office/drawing/2014/chart" uri="{C3380CC4-5D6E-409C-BE32-E72D297353CC}">
              <c16:uniqueId val="{00000006-0FB6-1543-9CF6-5BFDBEE8E6B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DCDDD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Commute funnel: rentals at each step (peak = 7-9 AM and 4-7 PM)</a:t>
            </a:r>
          </a:p>
        </c:rich>
      </c:tx>
      <c:overlay val="0"/>
    </c:title>
    <c:autoTitleDeleted val="0"/>
    <c:plotArea>
      <c:layout/>
      <c:barChart>
        <c:barDir val="bar"/>
        <c:grouping val="clustered"/>
        <c:varyColors val="0"/>
        <c:ser>
          <c:idx val="0"/>
          <c:order val="0"/>
          <c:tx>
            <c:strRef>
              <c:f>Sheet1!$B$1</c:f>
              <c:strCache>
                <c:ptCount val="1"/>
                <c:pt idx="0">
                  <c:v>Rentals</c:v>
                </c:pt>
              </c:strCache>
            </c:strRef>
          </c:tx>
          <c:spPr>
            <a:solidFill>
              <a:srgbClr val="9AA1A8"/>
            </a:solidFill>
            <a:effectLst/>
          </c:spPr>
          <c:invertIfNegative val="0"/>
          <c:dPt>
            <c:idx val="0"/>
            <c:invertIfNegative val="0"/>
            <c:bubble3D val="0"/>
            <c:extLst>
              <c:ext xmlns:c16="http://schemas.microsoft.com/office/drawing/2014/chart" uri="{C3380CC4-5D6E-409C-BE32-E72D297353CC}">
                <c16:uniqueId val="{00000001-E99D-F54B-AB5A-3A2594C2735A}"/>
              </c:ext>
            </c:extLst>
          </c:dPt>
          <c:dPt>
            <c:idx val="1"/>
            <c:invertIfNegative val="0"/>
            <c:bubble3D val="0"/>
            <c:extLst>
              <c:ext xmlns:c16="http://schemas.microsoft.com/office/drawing/2014/chart" uri="{C3380CC4-5D6E-409C-BE32-E72D297353CC}">
                <c16:uniqueId val="{00000003-E99D-F54B-AB5A-3A2594C2735A}"/>
              </c:ext>
            </c:extLst>
          </c:dPt>
          <c:dPt>
            <c:idx val="2"/>
            <c:invertIfNegative val="0"/>
            <c:bubble3D val="0"/>
            <c:spPr>
              <a:solidFill>
                <a:srgbClr val="B5785F"/>
              </a:solidFill>
              <a:effectLst/>
            </c:spPr>
            <c:extLst>
              <c:ext xmlns:c16="http://schemas.microsoft.com/office/drawing/2014/chart" uri="{C3380CC4-5D6E-409C-BE32-E72D297353CC}">
                <c16:uniqueId val="{00000005-E99D-F54B-AB5A-3A2594C2735A}"/>
              </c:ext>
            </c:extLst>
          </c:dPt>
          <c:dPt>
            <c:idx val="3"/>
            <c:invertIfNegative val="0"/>
            <c:bubble3D val="0"/>
            <c:spPr>
              <a:solidFill>
                <a:srgbClr val="6B8F8E"/>
              </a:solidFill>
              <a:effectLst/>
            </c:spPr>
            <c:extLst>
              <c:ext xmlns:c16="http://schemas.microsoft.com/office/drawing/2014/chart" uri="{C3380CC4-5D6E-409C-BE32-E72D297353CC}">
                <c16:uniqueId val="{00000007-E99D-F54B-AB5A-3A2594C2735A}"/>
              </c:ext>
            </c:extLst>
          </c:dPt>
          <c:dLbls>
            <c:numFmt formatCode="#,##0" sourceLinked="0"/>
            <c:spPr>
              <a:noFill/>
              <a:ln>
                <a:noFill/>
              </a:ln>
              <a:effectLst/>
            </c:spPr>
            <c:txPr>
              <a:bodyPr/>
              <a:lstStyle/>
              <a:p>
                <a:pPr>
                  <a:defRPr sz="1200" b="0" i="0" u="none" strike="noStrike">
                    <a:solidFill>
                      <a:srgbClr val="2B2B2B"/>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All rentals</c:v>
                </c:pt>
                <c:pt idx="1">
                  <c:v>Working-day rentals</c:v>
                </c:pt>
                <c:pt idx="2">
                  <c:v>Working-day peak hours</c:v>
                </c:pt>
                <c:pt idx="3">
                  <c:v>Of which registered riders</c:v>
                </c:pt>
              </c:strCache>
            </c:strRef>
          </c:cat>
          <c:val>
            <c:numRef>
              <c:f>Sheet1!$B$2:$B$5</c:f>
              <c:numCache>
                <c:formatCode>General</c:formatCode>
                <c:ptCount val="4"/>
                <c:pt idx="0">
                  <c:v>58304</c:v>
                </c:pt>
                <c:pt idx="1">
                  <c:v>41435</c:v>
                </c:pt>
                <c:pt idx="2">
                  <c:v>25033</c:v>
                </c:pt>
                <c:pt idx="3">
                  <c:v>24182</c:v>
                </c:pt>
              </c:numCache>
            </c:numRef>
          </c:val>
          <c:extLst>
            <c:ext xmlns:c16="http://schemas.microsoft.com/office/drawing/2014/chart" uri="{C3380CC4-5D6E-409C-BE32-E72D297353CC}">
              <c16:uniqueId val="{00000008-E99D-F54B-AB5A-3A2594C2735A}"/>
            </c:ext>
          </c:extLst>
        </c:ser>
        <c:dLbls>
          <c:showLegendKey val="0"/>
          <c:showVal val="1"/>
          <c:showCatName val="0"/>
          <c:showSerName val="0"/>
          <c:showPercent val="0"/>
          <c:showBubbleSize val="0"/>
        </c:dLbls>
        <c:gapWidth val="3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noMultiLvlLbl val="1"/>
      </c:catAx>
      <c:valAx>
        <c:axId val="2094734552"/>
        <c:scaling>
          <c:orientation val="minMax"/>
          <c:max val="68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400" b="1" i="0" u="none" strike="noStrike">
                <a:solidFill>
                  <a:srgbClr val="2E4057"/>
                </a:solidFill>
                <a:latin typeface="+mn-lt"/>
              </a:defRPr>
            </a:pPr>
            <a:r>
              <a:rPr sz="1400" b="1" i="0" u="none" strike="noStrike">
                <a:solidFill>
                  <a:srgbClr val="2E4057"/>
                </a:solidFill>
                <a:latin typeface="+mn-lt"/>
              </a:rPr>
              <a:t>Daily rentals, 1 Jan - 14 Feb 2011 (only 7 of 1,000 hours were anomalies)</a:t>
            </a:r>
          </a:p>
        </c:rich>
      </c:tx>
      <c:overlay val="0"/>
    </c:title>
    <c:autoTitleDeleted val="0"/>
    <c:plotArea>
      <c:layout/>
      <c:lineChart>
        <c:grouping val="standard"/>
        <c:varyColors val="0"/>
        <c:ser>
          <c:idx val="0"/>
          <c:order val="0"/>
          <c:tx>
            <c:strRef>
              <c:f>Sheet1!$B$1</c:f>
              <c:strCache>
                <c:ptCount val="1"/>
                <c:pt idx="0">
                  <c:v>Total rentals per day</c:v>
                </c:pt>
              </c:strCache>
            </c:strRef>
          </c:tx>
          <c:spPr>
            <a:ln w="31750" cap="flat">
              <a:solidFill>
                <a:srgbClr val="2E4057"/>
              </a:solidFill>
              <a:prstDash val="solid"/>
              <a:round/>
            </a:ln>
            <a:effectLst/>
          </c:spPr>
          <c:marker>
            <c:symbol val="circle"/>
            <c:size val="5"/>
            <c:spPr>
              <a:solidFill>
                <a:srgbClr val="2E4057"/>
              </a:solidFill>
              <a:ln w="9525" cap="flat">
                <a:solidFill>
                  <a:srgbClr val="2E4057"/>
                </a:solidFill>
                <a:prstDash val="solid"/>
                <a:round/>
              </a:ln>
              <a:effectLst/>
            </c:spPr>
          </c:marker>
          <c:cat>
            <c:strRef>
              <c:f>Sheet1!$A$2:$A$46</c:f>
              <c:strCache>
                <c:ptCount val="45"/>
                <c:pt idx="0">
                  <c:v>1-Jan</c:v>
                </c:pt>
                <c:pt idx="1">
                  <c:v>2-Jan</c:v>
                </c:pt>
                <c:pt idx="2">
                  <c:v>3-Jan</c:v>
                </c:pt>
                <c:pt idx="3">
                  <c:v>4-Jan</c:v>
                </c:pt>
                <c:pt idx="4">
                  <c:v>5-Jan</c:v>
                </c:pt>
                <c:pt idx="5">
                  <c:v>6-Jan</c:v>
                </c:pt>
                <c:pt idx="6">
                  <c:v>7-Jan</c:v>
                </c:pt>
                <c:pt idx="7">
                  <c:v>8-Jan</c:v>
                </c:pt>
                <c:pt idx="8">
                  <c:v>9-Jan</c:v>
                </c:pt>
                <c:pt idx="9">
                  <c:v>10-Jan</c:v>
                </c:pt>
                <c:pt idx="10">
                  <c:v>11-Jan</c:v>
                </c:pt>
                <c:pt idx="11">
                  <c:v>12-Jan</c:v>
                </c:pt>
                <c:pt idx="12">
                  <c:v>13-Jan</c:v>
                </c:pt>
                <c:pt idx="13">
                  <c:v>14-Jan</c:v>
                </c:pt>
                <c:pt idx="14">
                  <c:v>15-Jan</c:v>
                </c:pt>
                <c:pt idx="15">
                  <c:v>16-Jan</c:v>
                </c:pt>
                <c:pt idx="16">
                  <c:v>17-Jan</c:v>
                </c:pt>
                <c:pt idx="17">
                  <c:v>18-Jan</c:v>
                </c:pt>
                <c:pt idx="18">
                  <c:v>19-Jan</c:v>
                </c:pt>
                <c:pt idx="19">
                  <c:v>20-Jan</c:v>
                </c:pt>
                <c:pt idx="20">
                  <c:v>21-Jan</c:v>
                </c:pt>
                <c:pt idx="21">
                  <c:v>22-Jan</c:v>
                </c:pt>
                <c:pt idx="22">
                  <c:v>23-Jan</c:v>
                </c:pt>
                <c:pt idx="23">
                  <c:v>24-Jan</c:v>
                </c:pt>
                <c:pt idx="24">
                  <c:v>25-Jan</c:v>
                </c:pt>
                <c:pt idx="25">
                  <c:v>26-Jan</c:v>
                </c:pt>
                <c:pt idx="26">
                  <c:v>27-Jan</c:v>
                </c:pt>
                <c:pt idx="27">
                  <c:v>28-Jan</c:v>
                </c:pt>
                <c:pt idx="28">
                  <c:v>29-Jan</c:v>
                </c:pt>
                <c:pt idx="29">
                  <c:v>30-Jan</c:v>
                </c:pt>
                <c:pt idx="30">
                  <c:v>31-Jan</c:v>
                </c:pt>
                <c:pt idx="31">
                  <c:v>1-Feb</c:v>
                </c:pt>
                <c:pt idx="32">
                  <c:v>2-Feb</c:v>
                </c:pt>
                <c:pt idx="33">
                  <c:v>3-Feb</c:v>
                </c:pt>
                <c:pt idx="34">
                  <c:v>4-Feb</c:v>
                </c:pt>
                <c:pt idx="35">
                  <c:v>5-Feb</c:v>
                </c:pt>
                <c:pt idx="36">
                  <c:v>6-Feb</c:v>
                </c:pt>
                <c:pt idx="37">
                  <c:v>7-Feb</c:v>
                </c:pt>
                <c:pt idx="38">
                  <c:v>8-Feb</c:v>
                </c:pt>
                <c:pt idx="39">
                  <c:v>9-Feb</c:v>
                </c:pt>
                <c:pt idx="40">
                  <c:v>10-Feb</c:v>
                </c:pt>
                <c:pt idx="41">
                  <c:v>11-Feb</c:v>
                </c:pt>
                <c:pt idx="42">
                  <c:v>12-Feb</c:v>
                </c:pt>
                <c:pt idx="43">
                  <c:v>13-Feb</c:v>
                </c:pt>
                <c:pt idx="44">
                  <c:v>14-Feb</c:v>
                </c:pt>
              </c:strCache>
            </c:strRef>
          </c:cat>
          <c:val>
            <c:numRef>
              <c:f>Sheet1!$B$2:$B$46</c:f>
              <c:numCache>
                <c:formatCode>General</c:formatCode>
                <c:ptCount val="45"/>
                <c:pt idx="0">
                  <c:v>985</c:v>
                </c:pt>
                <c:pt idx="1">
                  <c:v>801</c:v>
                </c:pt>
                <c:pt idx="2">
                  <c:v>1349</c:v>
                </c:pt>
                <c:pt idx="3">
                  <c:v>1562</c:v>
                </c:pt>
                <c:pt idx="4">
                  <c:v>1600</c:v>
                </c:pt>
                <c:pt idx="5">
                  <c:v>1606</c:v>
                </c:pt>
                <c:pt idx="6">
                  <c:v>1510</c:v>
                </c:pt>
                <c:pt idx="7">
                  <c:v>959</c:v>
                </c:pt>
                <c:pt idx="8">
                  <c:v>822</c:v>
                </c:pt>
                <c:pt idx="9">
                  <c:v>1321</c:v>
                </c:pt>
                <c:pt idx="10">
                  <c:v>1263</c:v>
                </c:pt>
                <c:pt idx="11">
                  <c:v>1162</c:v>
                </c:pt>
                <c:pt idx="12">
                  <c:v>1406</c:v>
                </c:pt>
                <c:pt idx="13">
                  <c:v>1421</c:v>
                </c:pt>
                <c:pt idx="14">
                  <c:v>1248</c:v>
                </c:pt>
                <c:pt idx="15">
                  <c:v>1204</c:v>
                </c:pt>
                <c:pt idx="16">
                  <c:v>1000</c:v>
                </c:pt>
                <c:pt idx="17">
                  <c:v>683</c:v>
                </c:pt>
                <c:pt idx="18">
                  <c:v>1650</c:v>
                </c:pt>
                <c:pt idx="19">
                  <c:v>1927</c:v>
                </c:pt>
                <c:pt idx="20">
                  <c:v>1543</c:v>
                </c:pt>
                <c:pt idx="21">
                  <c:v>981</c:v>
                </c:pt>
                <c:pt idx="22">
                  <c:v>986</c:v>
                </c:pt>
                <c:pt idx="23">
                  <c:v>1416</c:v>
                </c:pt>
                <c:pt idx="24">
                  <c:v>1985</c:v>
                </c:pt>
                <c:pt idx="25">
                  <c:v>506</c:v>
                </c:pt>
                <c:pt idx="26">
                  <c:v>431</c:v>
                </c:pt>
                <c:pt idx="27">
                  <c:v>1167</c:v>
                </c:pt>
                <c:pt idx="28">
                  <c:v>1098</c:v>
                </c:pt>
                <c:pt idx="29">
                  <c:v>1096</c:v>
                </c:pt>
                <c:pt idx="30">
                  <c:v>1501</c:v>
                </c:pt>
                <c:pt idx="31">
                  <c:v>1360</c:v>
                </c:pt>
                <c:pt idx="32">
                  <c:v>1526</c:v>
                </c:pt>
                <c:pt idx="33">
                  <c:v>1550</c:v>
                </c:pt>
                <c:pt idx="34">
                  <c:v>1708</c:v>
                </c:pt>
                <c:pt idx="35">
                  <c:v>1005</c:v>
                </c:pt>
                <c:pt idx="36">
                  <c:v>1623</c:v>
                </c:pt>
                <c:pt idx="37">
                  <c:v>1712</c:v>
                </c:pt>
                <c:pt idx="38">
                  <c:v>1530</c:v>
                </c:pt>
                <c:pt idx="39">
                  <c:v>1605</c:v>
                </c:pt>
                <c:pt idx="40">
                  <c:v>1538</c:v>
                </c:pt>
                <c:pt idx="41">
                  <c:v>1746</c:v>
                </c:pt>
                <c:pt idx="42">
                  <c:v>1472</c:v>
                </c:pt>
                <c:pt idx="43">
                  <c:v>1589</c:v>
                </c:pt>
                <c:pt idx="44">
                  <c:v>151</c:v>
                </c:pt>
              </c:numCache>
            </c:numRef>
          </c:val>
          <c:smooth val="0"/>
          <c:extLst>
            <c:ext xmlns:c16="http://schemas.microsoft.com/office/drawing/2014/chart" uri="{C3380CC4-5D6E-409C-BE32-E72D297353CC}">
              <c16:uniqueId val="{00000000-7B6A-8948-87CE-6ED59A9D8C0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B73"/>
                </a:solidFill>
                <a:latin typeface="+mn-lt"/>
              </a:defRPr>
            </a:pPr>
            <a:endParaRPr lang="en-US"/>
          </a:p>
        </c:txPr>
        <c:crossAx val="2094734552"/>
        <c:crosses val="autoZero"/>
        <c:auto val="1"/>
        <c:lblAlgn val="ctr"/>
        <c:lblOffset val="100"/>
        <c:tickLblSkip val="7"/>
        <c:noMultiLvlLbl val="1"/>
      </c:catAx>
      <c:valAx>
        <c:axId val="2094734552"/>
        <c:scaling>
          <c:orientation val="minMax"/>
          <c:max val="2000"/>
          <c:min val="0"/>
        </c:scaling>
        <c:delete val="0"/>
        <c:axPos val="l"/>
        <c:majorGridlines>
          <c:spPr>
            <a:ln w="9525" cap="flat">
              <a:solidFill>
                <a:srgbClr val="DCDDD8"/>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F6B73"/>
                </a:solidFill>
                <a:latin typeface="+mn-lt"/>
              </a:defRPr>
            </a:pPr>
            <a:endParaRPr lang="en-US"/>
          </a:p>
        </c:txPr>
        <c:crossAx val="2094734554"/>
        <c:crosses val="autoZero"/>
        <c:crossBetween val="between"/>
        <c:majorUnit val="50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1618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project is a demand analysis for a city bike sharing service, done completely in Excel. I looked at about six weeks of hourly rental data to understand when and why people rent bikes. By the end I will share a dashboard, a short forecast and some practical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for today. First I explain the business problem and the data. Then I show how I cleaned and prepared the data in Excel. After that we go through the main findings, the dashboard and a simple forecast. I will finish with recommendations and the limits of this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question is simple: what makes people rent more or fewer bikes in a given hour? I looked at three groups of factors: time, weather and the calendar. The answers help the company decide where to put bikes, when to schedule staff, and who to target with marketing.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came in three separate files. The first two describe the same 610 hours: one has time and weather, the other has feels-like temperature, humidity, wind and the rental counts. They share the column instant, which is the record number. The third file adds 390 more hours with all 16 columns. Together they give 1,000 hourly records from 1 January to 14 February 2011, which is winter only.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I built one clean table. First I merged Dataset 1 and Dataset 2 on the instant column, and every row matched. Then I appended Dataset 3 underneath to reach 1,000 rows. I removed an extra index column, filled 11 blank feels-like temperatures with the average of the neighbouring rows, and found no duplicates. Finally I added 15 new columns to make the analysis easier.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 business questions I added helper columns with formulas. An IF formula marks working days, VLOOKUP turns weather codes into words, and INDEX-MATCH puts each hour into time, temperature and humidity bands. For the analysis I used SUMIFS, AVERAGEIFS, COUNTIF, CORREL and STDEV. Every feature is a live formula, so the workbook updates if new data is added.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headline numbers. In 1,000 hours there were 58,304 rentals, and almost 92 percent came from registered members, who are mostly commuters. Only about 8 percent came from casual riders, which is a growth opportunity. An average hour sees about 58 rentals, while the busiest hours reach 249. The busiest hour of the day on average is 5 PM with about 140 rentals.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average number of rentals for each hour of the day. There are two clear peaks: about 128 rentals at 8 AM and about 140 at 5 PM, the daily maximum. The registered line has the same shape, so commuters create these peaks. Casual riders rise gently from 11 AM to 4 PM. At night, from midnight to 5 AM, demand stays under 20 per hour.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compares each day of the week. From Monday to Friday registered riders dominate and demand is steady at about 57 to 68 rentals per hour. At weekends registered rentals drop by about 34 percent, but casual rentals rise from 3.3 to 8.2 per hour. So weekends are a leisure market, and that is where offers for casual riders belong.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Weather makes a real difference. Clear hours average about 61.7 rentals per hour, and cloudy or misty hours are almost the same at 58.6. Light rain or snow drops this to 33.2, about 46 percent fewer. Heavy rain occurred in only one hour, so I would not draw any conclusion from that bar.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grouped hours into temperature and humidity bands. Warm hours average 85.7 rentals versus 47.7 in cold hours, and humid hours have fewer rentals. But the correlations are small: 0.23 for temperature, -0.25 for humidity and 0.10 for wind speed. So time of day matters far more than these readings in this winter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funnel narrows all rentals down step by step. About 71 percent happen on working days. The working-day peak hours alone carry 43 percent of everything, that is 25,033 of 58,304 rentals. About 97 percent of those peak rentals are by registered riders, so a few hours of the working week matter most.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brought all the findings together in one dashboard page in Excel. Filters for day type, weather, month, time band and dates update every number and chart. Below them are eight KPI cards, charts by hour, weekday, date and weather, a day-by-hour heatmap and the commute funnel. It uses only formulas, so it works in any version of Excel without macros.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daily chart shows a regular weekly rhythm, with lower demand at weekends and a few bad-weather dips; 14 February is a partial day. Only 7 of 1,000 hours had a z-score of 3 or more against the same hour, and all were busy hours, so I kept them as real demand. The 48-hour forecast uses FORECAST.ETS with 24-hour seasonality and is off by about 21 rentals per hour. Its MASE of 0.98 means it is only slightly better than a naive guess, so it is a starting point for staffing.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findings, I suggest six actions. Fill office and transit stations before 8 AM and 5 PM, and use the quiet night hours for moving bikes and repairs. Attract casual riders at weekends with leisure offers, and plan for rainy days when demand drops by almost half. Use the forecast to plan staff, and collect a full year of data to check these patterns in other seasons.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bike demand is driven mainly by commuters, so the working-day rush hours matter most. Weekends bring more casual riders, and rain reduces demand a lot. Please keep in mind that this is only six weeks of winter data with some missing hours, and that correlation does not prove cause and effect. Thank you for listening, and I am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920240"/>
            <a:ext cx="7680960" cy="173736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794760"/>
            <a:ext cx="7680960" cy="822960"/>
          </a:xfrm>
          <a:prstGeom prst="rect">
            <a:avLst/>
          </a:prstGeom>
          <a:noFill/>
          <a:ln/>
        </p:spPr>
        <p:txBody>
          <a:bodyPr wrap="square" rtlCol="0"/>
          <a:lstStyle>
            <a:lvl1pPr marL="0" indent="0" algn="l">
              <a:buNone/>
              <a:defRPr lang="en-US" sz="2000" dirty="0">
                <a:solidFill>
                  <a:schemeClr val="bg1"/>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rtlCol="0"/>
          <a:lstStyle>
            <a:lvl1pPr marL="0" indent="0" algn="l">
              <a:buNone/>
              <a:defRPr lang="en-US" sz="2600" b="1" dirty="0">
                <a:solidFill>
                  <a:schemeClr val="accent1"/>
                </a:solidFill>
                <a:latin typeface="Arial" pitchFamily="34" charset="0"/>
                <a:ea typeface="Arial" pitchFamily="34" charset="-122"/>
                <a:cs typeface="Arial" pitchFamily="34" charset="-120"/>
              </a:defRPr>
            </a:lvl1pPr>
          </a:lstStyle>
          <a:p>
            <a:pPr marL="0" indent="0" algn="l">
              <a:buNone/>
            </a:pPr>
            <a:endParaRPr lang="en-US" sz="2600" dirty="0"/>
          </a:p>
        </p:txBody>
      </p:sp>
      <p:sp>
        <p:nvSpPr>
          <p:cNvPr id="3" name="Text 0"/>
          <p:cNvSpPr/>
          <p:nvPr/>
        </p:nvSpPr>
        <p:spPr>
          <a:xfrm>
            <a:off x="548640" y="6400800"/>
            <a:ext cx="7315200" cy="274320"/>
          </a:xfrm>
          <a:prstGeom prst="rect">
            <a:avLst/>
          </a:prstGeom>
          <a:noFill/>
          <a:ln/>
        </p:spPr>
        <p:txBody>
          <a:bodyPr wrap="square" lIns="0" tIns="0" rIns="0" bIns="0" rtlCol="0" anchor="t"/>
          <a:lstStyle/>
          <a:p>
            <a:pPr marL="0" indent="0">
              <a:buNone/>
            </a:pPr>
            <a:r>
              <a:rPr lang="en-US" sz="1000" dirty="0">
                <a:solidFill>
                  <a:schemeClr val="accent5"/>
                </a:solidFill>
              </a:rPr>
              <a:t>Bike sharing demand analysis  |  NextHikes IT Solutions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chart" Target="../charts/chart6.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7680960" cy="365760"/>
          </a:xfrm>
          <a:prstGeom prst="rect">
            <a:avLst/>
          </a:prstGeom>
          <a:noFill/>
          <a:ln/>
        </p:spPr>
        <p:txBody>
          <a:bodyPr wrap="square" lIns="0" tIns="0" rIns="0" bIns="0" rtlCol="0" anchor="t"/>
          <a:lstStyle/>
          <a:p>
            <a:pPr marL="0" indent="0" algn="l">
              <a:buNone/>
            </a:pPr>
            <a:r>
              <a:rPr lang="en-US" sz="1600" b="1" dirty="0">
                <a:solidFill>
                  <a:schemeClr val="accent3"/>
                </a:solidFill>
              </a:rPr>
              <a:t>NextHikes IT Solutions  |  Data analysis with Excel</a:t>
            </a:r>
            <a:endParaRPr lang="en-US" sz="1600" dirty="0"/>
          </a:p>
        </p:txBody>
      </p:sp>
      <p:sp>
        <p:nvSpPr>
          <p:cNvPr id="3" name="Text 0"/>
          <p:cNvSpPr>
            <a:spLocks noGrp="1"/>
          </p:cNvSpPr>
          <p:nvPr>
            <p:ph type="title" idx="100" hasCustomPrompt="1"/>
          </p:nvPr>
        </p:nvSpPr>
        <p:spPr>
          <a:xfrm>
            <a:off x="548640" y="1920240"/>
            <a:ext cx="7680960" cy="1737360"/>
          </a:xfrm>
          <a:prstGeom prst="rect">
            <a:avLst/>
          </a:prstGeom>
          <a:noFill/>
          <a:ln/>
        </p:spPr>
        <p:txBody>
          <a:bodyPr wrap="square" lIns="0" tIns="0" rIns="0" bIns="0" rtlCol="0" anchor="b"/>
          <a:lstStyle/>
          <a:p>
            <a:pPr marL="0" indent="0" algn="l">
              <a:buNone/>
            </a:pPr>
            <a:r>
              <a:rPr lang="en-US" sz="4400" b="1" dirty="0">
                <a:solidFill>
                  <a:schemeClr val="bg1"/>
                </a:solidFill>
              </a:rPr>
              <a:t>Bike sharing demand analysis</a:t>
            </a:r>
            <a:endParaRPr lang="en-US" sz="4400" dirty="0"/>
          </a:p>
        </p:txBody>
      </p:sp>
      <p:sp>
        <p:nvSpPr>
          <p:cNvPr id="4" name="Text 0"/>
          <p:cNvSpPr>
            <a:spLocks noGrp="1"/>
          </p:cNvSpPr>
          <p:nvPr>
            <p:ph type="body" idx="101" hasCustomPrompt="1"/>
          </p:nvPr>
        </p:nvSpPr>
        <p:spPr>
          <a:xfrm>
            <a:off x="548640" y="3794760"/>
            <a:ext cx="7680960" cy="822960"/>
          </a:xfrm>
          <a:prstGeom prst="rect">
            <a:avLst/>
          </a:prstGeom>
          <a:noFill/>
          <a:ln/>
        </p:spPr>
        <p:txBody>
          <a:bodyPr wrap="square" lIns="0" tIns="0" rIns="0" bIns="0" rtlCol="0" anchor="t"/>
          <a:lstStyle/>
          <a:p>
            <a:pPr marL="0" indent="0" algn="l">
              <a:buNone/>
            </a:pPr>
            <a:r>
              <a:rPr lang="en-US" sz="2000" dirty="0">
                <a:solidFill>
                  <a:schemeClr val="bg1"/>
                </a:solidFill>
              </a:rPr>
              <a:t>How time, weather and holidays shape hourly bike rentals</a:t>
            </a:r>
            <a:endParaRPr lang="en-US" sz="2000" dirty="0"/>
          </a:p>
        </p:txBody>
      </p:sp>
      <p:sp>
        <p:nvSpPr>
          <p:cNvPr id="5" name="Text 3"/>
          <p:cNvSpPr txBox="1"/>
          <p:nvPr/>
        </p:nvSpPr>
        <p:spPr>
          <a:xfrm>
            <a:off x="548640" y="5120640"/>
            <a:ext cx="5486400" cy="365760"/>
          </a:xfrm>
          <a:prstGeom prst="rect">
            <a:avLst/>
          </a:prstGeom>
          <a:noFill/>
          <a:ln/>
        </p:spPr>
        <p:txBody>
          <a:bodyPr wrap="square" lIns="0" tIns="0" rIns="0" bIns="0" rtlCol="0" anchor="t"/>
          <a:lstStyle/>
          <a:p>
            <a:pPr marL="0" indent="0" algn="l">
              <a:buNone/>
            </a:pPr>
            <a:r>
              <a:rPr lang="en-US" sz="1600" dirty="0">
                <a:solidFill>
                  <a:schemeClr val="bg1"/>
                </a:solidFill>
              </a:rPr>
              <a:t>Presented by: Amita Yadav</a:t>
            </a:r>
            <a:endParaRPr lang="en-US" sz="1600" dirty="0"/>
          </a:p>
        </p:txBody>
      </p:sp>
      <p:sp>
        <p:nvSpPr>
          <p:cNvPr id="7" name="Title bike circle"/>
          <p:cNvSpPr/>
          <p:nvPr/>
        </p:nvSpPr>
        <p:spPr>
          <a:xfrm>
            <a:off x="8915400" y="1737360"/>
            <a:ext cx="2651760" cy="2651760"/>
          </a:xfrm>
          <a:prstGeom prst="ellipse">
            <a:avLst/>
          </a:prstGeom>
          <a:solidFill>
            <a:schemeClr val="accent2"/>
          </a:solidFill>
          <a:ln/>
        </p:spPr>
        <p:txBody>
          <a:bodyPr/>
          <a:lstStyle/>
          <a:p>
            <a:endParaRPr lang="en-US"/>
          </a:p>
        </p:txBody>
      </p:sp>
      <p:pic>
        <p:nvPicPr>
          <p:cNvPr id="8" name="Title bike icon" descr="preencoded.png"/>
          <p:cNvPicPr>
            <a:picLocks noChangeAspect="1"/>
          </p:cNvPicPr>
          <p:nvPr/>
        </p:nvPicPr>
        <p:blipFill>
          <a:blip r:embed="rId3"/>
          <a:stretch>
            <a:fillRect/>
          </a:stretch>
        </p:blipFill>
        <p:spPr>
          <a:xfrm>
            <a:off x="9578340" y="2400300"/>
            <a:ext cx="1325880" cy="1325880"/>
          </a:xfrm>
          <a:prstGeom prst="rect">
            <a:avLst/>
          </a:prstGeom>
        </p:spPr>
      </p:pic>
      <p:sp>
        <p:nvSpPr>
          <p:cNvPr id="9" name="Title clock circle"/>
          <p:cNvSpPr/>
          <p:nvPr/>
        </p:nvSpPr>
        <p:spPr>
          <a:xfrm>
            <a:off x="8549640" y="4526280"/>
            <a:ext cx="822960" cy="822960"/>
          </a:xfrm>
          <a:prstGeom prst="ellipse">
            <a:avLst/>
          </a:prstGeom>
          <a:solidFill>
            <a:schemeClr val="accent3"/>
          </a:solidFill>
          <a:ln/>
        </p:spPr>
        <p:txBody>
          <a:bodyPr/>
          <a:lstStyle/>
          <a:p>
            <a:endParaRPr lang="en-US"/>
          </a:p>
        </p:txBody>
      </p:sp>
      <p:pic>
        <p:nvPicPr>
          <p:cNvPr id="10" name="Title clock icon" descr="preencoded.png"/>
          <p:cNvPicPr>
            <a:picLocks noChangeAspect="1"/>
          </p:cNvPicPr>
          <p:nvPr/>
        </p:nvPicPr>
        <p:blipFill>
          <a:blip r:embed="rId4"/>
          <a:stretch>
            <a:fillRect/>
          </a:stretch>
        </p:blipFill>
        <p:spPr>
          <a:xfrm>
            <a:off x="8755380" y="4732020"/>
            <a:ext cx="411480" cy="411480"/>
          </a:xfrm>
          <a:prstGeom prst="rect">
            <a:avLst/>
          </a:prstGeom>
        </p:spPr>
      </p:pic>
      <p:sp>
        <p:nvSpPr>
          <p:cNvPr id="11" name="Title rain circle"/>
          <p:cNvSpPr/>
          <p:nvPr/>
        </p:nvSpPr>
        <p:spPr>
          <a:xfrm>
            <a:off x="9555480" y="4800600"/>
            <a:ext cx="822960" cy="822960"/>
          </a:xfrm>
          <a:prstGeom prst="ellipse">
            <a:avLst/>
          </a:prstGeom>
          <a:solidFill>
            <a:schemeClr val="accent6"/>
          </a:solidFill>
          <a:ln/>
        </p:spPr>
        <p:txBody>
          <a:bodyPr/>
          <a:lstStyle/>
          <a:p>
            <a:endParaRPr lang="en-US"/>
          </a:p>
        </p:txBody>
      </p:sp>
      <p:pic>
        <p:nvPicPr>
          <p:cNvPr id="12" name="Title rain icon" descr="preencoded.png"/>
          <p:cNvPicPr>
            <a:picLocks noChangeAspect="1"/>
          </p:cNvPicPr>
          <p:nvPr/>
        </p:nvPicPr>
        <p:blipFill>
          <a:blip r:embed="rId5"/>
          <a:stretch>
            <a:fillRect/>
          </a:stretch>
        </p:blipFill>
        <p:spPr>
          <a:xfrm>
            <a:off x="9761220" y="5006340"/>
            <a:ext cx="411480" cy="411480"/>
          </a:xfrm>
          <a:prstGeom prst="rect">
            <a:avLst/>
          </a:prstGeom>
        </p:spPr>
      </p:pic>
      <p:sp>
        <p:nvSpPr>
          <p:cNvPr id="13" name="Title users circle"/>
          <p:cNvSpPr/>
          <p:nvPr/>
        </p:nvSpPr>
        <p:spPr>
          <a:xfrm>
            <a:off x="10561320" y="4526280"/>
            <a:ext cx="822960" cy="822960"/>
          </a:xfrm>
          <a:prstGeom prst="ellipse">
            <a:avLst/>
          </a:prstGeom>
          <a:solidFill>
            <a:schemeClr val="bg1"/>
          </a:solidFill>
          <a:ln/>
        </p:spPr>
        <p:txBody>
          <a:bodyPr/>
          <a:lstStyle/>
          <a:p>
            <a:endParaRPr lang="en-US"/>
          </a:p>
        </p:txBody>
      </p:sp>
      <p:pic>
        <p:nvPicPr>
          <p:cNvPr id="14" name="Title users icon" descr="preencoded.png"/>
          <p:cNvPicPr>
            <a:picLocks noChangeAspect="1"/>
          </p:cNvPicPr>
          <p:nvPr/>
        </p:nvPicPr>
        <p:blipFill>
          <a:blip r:embed="rId6"/>
          <a:stretch>
            <a:fillRect/>
          </a:stretch>
        </p:blipFill>
        <p:spPr>
          <a:xfrm>
            <a:off x="10767060" y="473202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Agenda: from raw data to recommendations</a:t>
            </a:r>
            <a:endParaRPr lang="en-US" sz="2600" dirty="0"/>
          </a:p>
        </p:txBody>
      </p:sp>
      <p:sp>
        <p:nvSpPr>
          <p:cNvPr id="3" name="Agenda card 1"/>
          <p:cNvSpPr/>
          <p:nvPr/>
        </p:nvSpPr>
        <p:spPr>
          <a:xfrm>
            <a:off x="548640"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Text 2"/>
          <p:cNvSpPr txBox="1"/>
          <p:nvPr/>
        </p:nvSpPr>
        <p:spPr>
          <a:xfrm>
            <a:off x="822960" y="169164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01</a:t>
            </a:r>
            <a:endParaRPr lang="en-US" sz="3200" dirty="0"/>
          </a:p>
        </p:txBody>
      </p:sp>
      <p:sp>
        <p:nvSpPr>
          <p:cNvPr id="5" name="Agenda icon 1 circle"/>
          <p:cNvSpPr/>
          <p:nvPr/>
        </p:nvSpPr>
        <p:spPr>
          <a:xfrm>
            <a:off x="3149498" y="1691640"/>
            <a:ext cx="640080" cy="640080"/>
          </a:xfrm>
          <a:prstGeom prst="ellipse">
            <a:avLst/>
          </a:prstGeom>
          <a:solidFill>
            <a:schemeClr val="accent2"/>
          </a:solidFill>
          <a:ln/>
        </p:spPr>
        <p:txBody>
          <a:bodyPr/>
          <a:lstStyle/>
          <a:p>
            <a:endParaRPr lang="en-US"/>
          </a:p>
        </p:txBody>
      </p:sp>
      <p:pic>
        <p:nvPicPr>
          <p:cNvPr id="6" name="Agenda icon 1 icon" descr="preencoded.png"/>
          <p:cNvPicPr>
            <a:picLocks noChangeAspect="1"/>
          </p:cNvPicPr>
          <p:nvPr/>
        </p:nvPicPr>
        <p:blipFill>
          <a:blip r:embed="rId3"/>
          <a:stretch>
            <a:fillRect/>
          </a:stretch>
        </p:blipFill>
        <p:spPr>
          <a:xfrm>
            <a:off x="3309518" y="1851660"/>
            <a:ext cx="320040" cy="320040"/>
          </a:xfrm>
          <a:prstGeom prst="rect">
            <a:avLst/>
          </a:prstGeom>
        </p:spPr>
      </p:pic>
      <p:sp>
        <p:nvSpPr>
          <p:cNvPr id="7" name="Text 4"/>
          <p:cNvSpPr txBox="1"/>
          <p:nvPr/>
        </p:nvSpPr>
        <p:spPr>
          <a:xfrm>
            <a:off x="822960"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Problem and objectives</a:t>
            </a:r>
            <a:endParaRPr lang="en-US" sz="1800" dirty="0"/>
          </a:p>
        </p:txBody>
      </p:sp>
      <p:sp>
        <p:nvSpPr>
          <p:cNvPr id="8" name="Text 5"/>
          <p:cNvSpPr txBox="1"/>
          <p:nvPr/>
        </p:nvSpPr>
        <p:spPr>
          <a:xfrm>
            <a:off x="822960"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What we want to learn and why</a:t>
            </a:r>
            <a:endParaRPr lang="en-US" sz="1600" dirty="0"/>
          </a:p>
        </p:txBody>
      </p:sp>
      <p:sp>
        <p:nvSpPr>
          <p:cNvPr id="9" name="Agenda card 2"/>
          <p:cNvSpPr/>
          <p:nvPr/>
        </p:nvSpPr>
        <p:spPr>
          <a:xfrm>
            <a:off x="4338218"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0" name="Text 7"/>
          <p:cNvSpPr txBox="1"/>
          <p:nvPr/>
        </p:nvSpPr>
        <p:spPr>
          <a:xfrm>
            <a:off x="4612538" y="169164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02</a:t>
            </a:r>
            <a:endParaRPr lang="en-US" sz="3200" dirty="0"/>
          </a:p>
        </p:txBody>
      </p:sp>
      <p:sp>
        <p:nvSpPr>
          <p:cNvPr id="11" name="Agenda icon 2 circle"/>
          <p:cNvSpPr/>
          <p:nvPr/>
        </p:nvSpPr>
        <p:spPr>
          <a:xfrm>
            <a:off x="6939077" y="1691640"/>
            <a:ext cx="640080" cy="640080"/>
          </a:xfrm>
          <a:prstGeom prst="ellipse">
            <a:avLst/>
          </a:prstGeom>
          <a:solidFill>
            <a:schemeClr val="accent2"/>
          </a:solidFill>
          <a:ln/>
        </p:spPr>
        <p:txBody>
          <a:bodyPr/>
          <a:lstStyle/>
          <a:p>
            <a:endParaRPr lang="en-US"/>
          </a:p>
        </p:txBody>
      </p:sp>
      <p:pic>
        <p:nvPicPr>
          <p:cNvPr id="12" name="Agenda icon 2 icon" descr="preencoded.png"/>
          <p:cNvPicPr>
            <a:picLocks noChangeAspect="1"/>
          </p:cNvPicPr>
          <p:nvPr/>
        </p:nvPicPr>
        <p:blipFill>
          <a:blip r:embed="rId4"/>
          <a:stretch>
            <a:fillRect/>
          </a:stretch>
        </p:blipFill>
        <p:spPr>
          <a:xfrm>
            <a:off x="7099097" y="1851660"/>
            <a:ext cx="320040" cy="320040"/>
          </a:xfrm>
          <a:prstGeom prst="rect">
            <a:avLst/>
          </a:prstGeom>
        </p:spPr>
      </p:pic>
      <p:sp>
        <p:nvSpPr>
          <p:cNvPr id="13" name="Text 9"/>
          <p:cNvSpPr txBox="1"/>
          <p:nvPr/>
        </p:nvSpPr>
        <p:spPr>
          <a:xfrm>
            <a:off x="4612538"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Data and preparation</a:t>
            </a:r>
            <a:endParaRPr lang="en-US" sz="1800" dirty="0"/>
          </a:p>
        </p:txBody>
      </p:sp>
      <p:sp>
        <p:nvSpPr>
          <p:cNvPr id="14" name="Text 10"/>
          <p:cNvSpPr txBox="1"/>
          <p:nvPr/>
        </p:nvSpPr>
        <p:spPr>
          <a:xfrm>
            <a:off x="4612538"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Three files merged into one table</a:t>
            </a:r>
            <a:endParaRPr lang="en-US" sz="1600" dirty="0"/>
          </a:p>
        </p:txBody>
      </p:sp>
      <p:sp>
        <p:nvSpPr>
          <p:cNvPr id="15" name="Agenda card 3"/>
          <p:cNvSpPr/>
          <p:nvPr/>
        </p:nvSpPr>
        <p:spPr>
          <a:xfrm>
            <a:off x="8127797"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6" name="Text 12"/>
          <p:cNvSpPr txBox="1"/>
          <p:nvPr/>
        </p:nvSpPr>
        <p:spPr>
          <a:xfrm>
            <a:off x="8402117" y="169164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03</a:t>
            </a:r>
            <a:endParaRPr lang="en-US" sz="3200" dirty="0"/>
          </a:p>
        </p:txBody>
      </p:sp>
      <p:sp>
        <p:nvSpPr>
          <p:cNvPr id="17" name="Agenda icon 3 circle"/>
          <p:cNvSpPr/>
          <p:nvPr/>
        </p:nvSpPr>
        <p:spPr>
          <a:xfrm>
            <a:off x="10728655" y="1691640"/>
            <a:ext cx="640080" cy="640080"/>
          </a:xfrm>
          <a:prstGeom prst="ellipse">
            <a:avLst/>
          </a:prstGeom>
          <a:solidFill>
            <a:schemeClr val="accent2"/>
          </a:solidFill>
          <a:ln/>
        </p:spPr>
        <p:txBody>
          <a:bodyPr/>
          <a:lstStyle/>
          <a:p>
            <a:endParaRPr lang="en-US"/>
          </a:p>
        </p:txBody>
      </p:sp>
      <p:pic>
        <p:nvPicPr>
          <p:cNvPr id="18" name="Agenda icon 3 icon" descr="preencoded.png"/>
          <p:cNvPicPr>
            <a:picLocks noChangeAspect="1"/>
          </p:cNvPicPr>
          <p:nvPr/>
        </p:nvPicPr>
        <p:blipFill>
          <a:blip r:embed="rId5"/>
          <a:stretch>
            <a:fillRect/>
          </a:stretch>
        </p:blipFill>
        <p:spPr>
          <a:xfrm>
            <a:off x="10888675" y="1851660"/>
            <a:ext cx="320040" cy="320040"/>
          </a:xfrm>
          <a:prstGeom prst="rect">
            <a:avLst/>
          </a:prstGeom>
        </p:spPr>
      </p:pic>
      <p:sp>
        <p:nvSpPr>
          <p:cNvPr id="19" name="Text 14"/>
          <p:cNvSpPr txBox="1"/>
          <p:nvPr/>
        </p:nvSpPr>
        <p:spPr>
          <a:xfrm>
            <a:off x="8402117"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Key metrics</a:t>
            </a:r>
            <a:endParaRPr lang="en-US" sz="1800" dirty="0"/>
          </a:p>
        </p:txBody>
      </p:sp>
      <p:sp>
        <p:nvSpPr>
          <p:cNvPr id="20" name="Text 15"/>
          <p:cNvSpPr txBox="1"/>
          <p:nvPr/>
        </p:nvSpPr>
        <p:spPr>
          <a:xfrm>
            <a:off x="8402117"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Total rentals and who rides</a:t>
            </a:r>
            <a:endParaRPr lang="en-US" sz="1600" dirty="0"/>
          </a:p>
        </p:txBody>
      </p:sp>
      <p:sp>
        <p:nvSpPr>
          <p:cNvPr id="21" name="Agenda card 4"/>
          <p:cNvSpPr/>
          <p:nvPr/>
        </p:nvSpPr>
        <p:spPr>
          <a:xfrm>
            <a:off x="548640"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2" name="Text 17"/>
          <p:cNvSpPr txBox="1"/>
          <p:nvPr/>
        </p:nvSpPr>
        <p:spPr>
          <a:xfrm>
            <a:off x="822960" y="418338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04</a:t>
            </a:r>
            <a:endParaRPr lang="en-US" sz="3200" dirty="0"/>
          </a:p>
        </p:txBody>
      </p:sp>
      <p:sp>
        <p:nvSpPr>
          <p:cNvPr id="23" name="Agenda icon 4 circle"/>
          <p:cNvSpPr/>
          <p:nvPr/>
        </p:nvSpPr>
        <p:spPr>
          <a:xfrm>
            <a:off x="3149498" y="4183380"/>
            <a:ext cx="640080" cy="640080"/>
          </a:xfrm>
          <a:prstGeom prst="ellipse">
            <a:avLst/>
          </a:prstGeom>
          <a:solidFill>
            <a:schemeClr val="accent2"/>
          </a:solidFill>
          <a:ln/>
        </p:spPr>
        <p:txBody>
          <a:bodyPr/>
          <a:lstStyle/>
          <a:p>
            <a:endParaRPr lang="en-US"/>
          </a:p>
        </p:txBody>
      </p:sp>
      <p:pic>
        <p:nvPicPr>
          <p:cNvPr id="24" name="Agenda icon 4 icon" descr="preencoded.png"/>
          <p:cNvPicPr>
            <a:picLocks noChangeAspect="1"/>
          </p:cNvPicPr>
          <p:nvPr/>
        </p:nvPicPr>
        <p:blipFill>
          <a:blip r:embed="rId6"/>
          <a:stretch>
            <a:fillRect/>
          </a:stretch>
        </p:blipFill>
        <p:spPr>
          <a:xfrm>
            <a:off x="3309518" y="4343400"/>
            <a:ext cx="320040" cy="320040"/>
          </a:xfrm>
          <a:prstGeom prst="rect">
            <a:avLst/>
          </a:prstGeom>
        </p:spPr>
      </p:pic>
      <p:sp>
        <p:nvSpPr>
          <p:cNvPr id="25" name="Text 19"/>
          <p:cNvSpPr txBox="1"/>
          <p:nvPr/>
        </p:nvSpPr>
        <p:spPr>
          <a:xfrm>
            <a:off x="822960"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Demand drivers</a:t>
            </a:r>
            <a:endParaRPr lang="en-US" sz="1800" dirty="0"/>
          </a:p>
        </p:txBody>
      </p:sp>
      <p:sp>
        <p:nvSpPr>
          <p:cNvPr id="26" name="Text 20"/>
          <p:cNvSpPr txBox="1"/>
          <p:nvPr/>
        </p:nvSpPr>
        <p:spPr>
          <a:xfrm>
            <a:off x="822960"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Hour, weekday, weather, temperature</a:t>
            </a:r>
            <a:endParaRPr lang="en-US" sz="1600" dirty="0"/>
          </a:p>
        </p:txBody>
      </p:sp>
      <p:sp>
        <p:nvSpPr>
          <p:cNvPr id="27" name="Agenda card 5"/>
          <p:cNvSpPr/>
          <p:nvPr/>
        </p:nvSpPr>
        <p:spPr>
          <a:xfrm>
            <a:off x="4338218"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8" name="Text 22"/>
          <p:cNvSpPr txBox="1"/>
          <p:nvPr/>
        </p:nvSpPr>
        <p:spPr>
          <a:xfrm>
            <a:off x="4612538" y="418338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05</a:t>
            </a:r>
            <a:endParaRPr lang="en-US" sz="3200" dirty="0"/>
          </a:p>
        </p:txBody>
      </p:sp>
      <p:sp>
        <p:nvSpPr>
          <p:cNvPr id="29" name="Agenda icon 5 circle"/>
          <p:cNvSpPr/>
          <p:nvPr/>
        </p:nvSpPr>
        <p:spPr>
          <a:xfrm>
            <a:off x="6939077" y="4183380"/>
            <a:ext cx="640080" cy="640080"/>
          </a:xfrm>
          <a:prstGeom prst="ellipse">
            <a:avLst/>
          </a:prstGeom>
          <a:solidFill>
            <a:schemeClr val="accent2"/>
          </a:solidFill>
          <a:ln/>
        </p:spPr>
        <p:txBody>
          <a:bodyPr/>
          <a:lstStyle/>
          <a:p>
            <a:endParaRPr lang="en-US"/>
          </a:p>
        </p:txBody>
      </p:sp>
      <p:pic>
        <p:nvPicPr>
          <p:cNvPr id="30" name="Agenda icon 5 icon" descr="preencoded.png"/>
          <p:cNvPicPr>
            <a:picLocks noChangeAspect="1"/>
          </p:cNvPicPr>
          <p:nvPr/>
        </p:nvPicPr>
        <p:blipFill>
          <a:blip r:embed="rId7"/>
          <a:stretch>
            <a:fillRect/>
          </a:stretch>
        </p:blipFill>
        <p:spPr>
          <a:xfrm>
            <a:off x="7099097" y="4343400"/>
            <a:ext cx="320040" cy="320040"/>
          </a:xfrm>
          <a:prstGeom prst="rect">
            <a:avLst/>
          </a:prstGeom>
        </p:spPr>
      </p:pic>
      <p:sp>
        <p:nvSpPr>
          <p:cNvPr id="31" name="Text 24"/>
          <p:cNvSpPr txBox="1"/>
          <p:nvPr/>
        </p:nvSpPr>
        <p:spPr>
          <a:xfrm>
            <a:off x="4612538"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Dashboard and forecast</a:t>
            </a:r>
            <a:endParaRPr lang="en-US" sz="1800" dirty="0"/>
          </a:p>
        </p:txBody>
      </p:sp>
      <p:sp>
        <p:nvSpPr>
          <p:cNvPr id="32" name="Text 25"/>
          <p:cNvSpPr txBox="1"/>
          <p:nvPr/>
        </p:nvSpPr>
        <p:spPr>
          <a:xfrm>
            <a:off x="4612538"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Interactive view, anomalies, next 24 hours</a:t>
            </a:r>
            <a:endParaRPr lang="en-US" sz="1600" dirty="0"/>
          </a:p>
        </p:txBody>
      </p:sp>
      <p:sp>
        <p:nvSpPr>
          <p:cNvPr id="33" name="Agenda card 6"/>
          <p:cNvSpPr/>
          <p:nvPr/>
        </p:nvSpPr>
        <p:spPr>
          <a:xfrm>
            <a:off x="8127797"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34" name="Text 27"/>
          <p:cNvSpPr txBox="1"/>
          <p:nvPr/>
        </p:nvSpPr>
        <p:spPr>
          <a:xfrm>
            <a:off x="8402117" y="4183380"/>
            <a:ext cx="1097280" cy="640080"/>
          </a:xfrm>
          <a:prstGeom prst="rect">
            <a:avLst/>
          </a:prstGeom>
          <a:noFill/>
          <a:ln/>
        </p:spPr>
        <p:txBody>
          <a:bodyPr wrap="square" lIns="0" tIns="0" rIns="0" bIns="0" rtlCol="0" anchor="ctr"/>
          <a:lstStyle/>
          <a:p>
            <a:pPr marL="0" indent="0" algn="l">
              <a:buNone/>
            </a:pPr>
            <a:r>
              <a:rPr lang="en-US" sz="3200" b="1" dirty="0">
                <a:solidFill>
                  <a:schemeClr val="accent2"/>
                </a:solidFill>
              </a:rPr>
              <a:t>06</a:t>
            </a:r>
            <a:endParaRPr lang="en-US" sz="3200" dirty="0"/>
          </a:p>
        </p:txBody>
      </p:sp>
      <p:sp>
        <p:nvSpPr>
          <p:cNvPr id="35" name="Agenda icon 6 circle"/>
          <p:cNvSpPr/>
          <p:nvPr/>
        </p:nvSpPr>
        <p:spPr>
          <a:xfrm>
            <a:off x="10728655" y="4183380"/>
            <a:ext cx="640080" cy="640080"/>
          </a:xfrm>
          <a:prstGeom prst="ellipse">
            <a:avLst/>
          </a:prstGeom>
          <a:solidFill>
            <a:schemeClr val="accent2"/>
          </a:solidFill>
          <a:ln/>
        </p:spPr>
        <p:txBody>
          <a:bodyPr/>
          <a:lstStyle/>
          <a:p>
            <a:endParaRPr lang="en-US"/>
          </a:p>
        </p:txBody>
      </p:sp>
      <p:pic>
        <p:nvPicPr>
          <p:cNvPr id="36" name="Agenda icon 6 icon" descr="preencoded.png"/>
          <p:cNvPicPr>
            <a:picLocks noChangeAspect="1"/>
          </p:cNvPicPr>
          <p:nvPr/>
        </p:nvPicPr>
        <p:blipFill>
          <a:blip r:embed="rId8"/>
          <a:stretch>
            <a:fillRect/>
          </a:stretch>
        </p:blipFill>
        <p:spPr>
          <a:xfrm>
            <a:off x="10888675" y="4343400"/>
            <a:ext cx="320040" cy="320040"/>
          </a:xfrm>
          <a:prstGeom prst="rect">
            <a:avLst/>
          </a:prstGeom>
        </p:spPr>
      </p:pic>
      <p:sp>
        <p:nvSpPr>
          <p:cNvPr id="37" name="Text 29"/>
          <p:cNvSpPr txBox="1"/>
          <p:nvPr/>
        </p:nvSpPr>
        <p:spPr>
          <a:xfrm>
            <a:off x="8402117"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Recommendations</a:t>
            </a:r>
            <a:endParaRPr lang="en-US" sz="1800" dirty="0"/>
          </a:p>
        </p:txBody>
      </p:sp>
      <p:sp>
        <p:nvSpPr>
          <p:cNvPr id="38" name="Text 30"/>
          <p:cNvSpPr txBox="1"/>
          <p:nvPr/>
        </p:nvSpPr>
        <p:spPr>
          <a:xfrm>
            <a:off x="8402117"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Actions, limitations and next steps</a:t>
            </a:r>
            <a:endParaRPr lang="en-US" sz="1600" dirty="0"/>
          </a:p>
        </p:txBody>
      </p:sp>
      <p:sp>
        <p:nvSpPr>
          <p:cNvPr id="39"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Goal: explain what drives hourly rentals to plan the fleet</a:t>
            </a:r>
            <a:endParaRPr lang="en-US" sz="2600" dirty="0"/>
          </a:p>
        </p:txBody>
      </p:sp>
      <p:sp>
        <p:nvSpPr>
          <p:cNvPr id="3" name="Question card"/>
          <p:cNvSpPr/>
          <p:nvPr/>
        </p:nvSpPr>
        <p:spPr>
          <a:xfrm>
            <a:off x="548640" y="1417320"/>
            <a:ext cx="5410048"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Text 2"/>
          <p:cNvSpPr txBox="1"/>
          <p:nvPr/>
        </p:nvSpPr>
        <p:spPr>
          <a:xfrm>
            <a:off x="822960" y="1691640"/>
            <a:ext cx="4861408" cy="365760"/>
          </a:xfrm>
          <a:prstGeom prst="rect">
            <a:avLst/>
          </a:prstGeom>
          <a:noFill/>
          <a:ln/>
        </p:spPr>
        <p:txBody>
          <a:bodyPr wrap="square" lIns="0" tIns="0" rIns="0" bIns="0" rtlCol="0" anchor="ctr"/>
          <a:lstStyle/>
          <a:p>
            <a:pPr marL="0" indent="0" algn="l">
              <a:buNone/>
            </a:pPr>
            <a:r>
              <a:rPr lang="en-US" sz="1800" b="1" dirty="0">
                <a:solidFill>
                  <a:schemeClr val="accent5"/>
                </a:solidFill>
              </a:rPr>
              <a:t>Key question</a:t>
            </a:r>
            <a:endParaRPr lang="en-US" sz="1800" dirty="0"/>
          </a:p>
        </p:txBody>
      </p:sp>
      <p:sp>
        <p:nvSpPr>
          <p:cNvPr id="5" name="Text 3"/>
          <p:cNvSpPr txBox="1"/>
          <p:nvPr/>
        </p:nvSpPr>
        <p:spPr>
          <a:xfrm>
            <a:off x="822960" y="2194560"/>
            <a:ext cx="4861408" cy="1234440"/>
          </a:xfrm>
          <a:prstGeom prst="rect">
            <a:avLst/>
          </a:prstGeom>
          <a:noFill/>
          <a:ln/>
        </p:spPr>
        <p:txBody>
          <a:bodyPr wrap="square" lIns="0" tIns="0" rIns="0" bIns="0" rtlCol="0" anchor="t"/>
          <a:lstStyle/>
          <a:p>
            <a:pPr marL="0" indent="0" algn="l">
              <a:buNone/>
            </a:pPr>
            <a:r>
              <a:rPr lang="en-US" sz="2200" b="1" dirty="0">
                <a:solidFill>
                  <a:schemeClr val="accent1"/>
                </a:solidFill>
              </a:rPr>
              <a:t>How do time, weather and holidays affect the number of bikes rented each hour?</a:t>
            </a:r>
            <a:endParaRPr lang="en-US" sz="2200" dirty="0"/>
          </a:p>
        </p:txBody>
      </p:sp>
      <p:sp>
        <p:nvSpPr>
          <p:cNvPr id="6" name="Question bullets"/>
          <p:cNvSpPr txBox="1"/>
          <p:nvPr/>
        </p:nvSpPr>
        <p:spPr>
          <a:xfrm>
            <a:off x="822960" y="3749040"/>
            <a:ext cx="4861408" cy="1828800"/>
          </a:xfrm>
          <a:prstGeom prst="rect">
            <a:avLst/>
          </a:prstGeom>
          <a:noFill/>
          <a:ln/>
        </p:spPr>
        <p:txBody>
          <a:bodyPr wrap="square" lIns="0" tIns="0" rIns="0" bIns="0" rtlCol="0" anchor="t"/>
          <a:lstStyle/>
          <a:p>
            <a:pPr marL="228600" indent="-228600" algn="l">
              <a:spcAft>
                <a:spcPts val="1000"/>
              </a:spcAft>
              <a:buSzPct val="100000"/>
              <a:buChar char="•"/>
            </a:pPr>
            <a:r>
              <a:rPr lang="en-US" sz="1600" dirty="0">
                <a:solidFill>
                  <a:schemeClr val="tx1"/>
                </a:solidFill>
              </a:rPr>
              <a:t>Time: hour of day, weekday vs weekend</a:t>
            </a:r>
            <a:endParaRPr lang="en-US" sz="1600" dirty="0"/>
          </a:p>
          <a:p>
            <a:pPr marL="228600" indent="-228600" algn="l">
              <a:spcAft>
                <a:spcPts val="1000"/>
              </a:spcAft>
              <a:buSzPct val="100000"/>
              <a:buChar char="•"/>
            </a:pPr>
            <a:r>
              <a:rPr lang="en-US" sz="1600" dirty="0">
                <a:solidFill>
                  <a:schemeClr val="tx1"/>
                </a:solidFill>
              </a:rPr>
              <a:t>Weather: sky, temperature, humidity</a:t>
            </a:r>
            <a:endParaRPr lang="en-US" sz="1600" dirty="0"/>
          </a:p>
          <a:p>
            <a:pPr marL="228600" indent="-228600" algn="l">
              <a:spcAft>
                <a:spcPts val="1000"/>
              </a:spcAft>
              <a:buSzPct val="100000"/>
              <a:buChar char="•"/>
            </a:pPr>
            <a:r>
              <a:rPr lang="en-US" sz="1600" dirty="0">
                <a:solidFill>
                  <a:schemeClr val="tx1"/>
                </a:solidFill>
              </a:rPr>
              <a:t>Calendar: working days and holidays</a:t>
            </a:r>
            <a:endParaRPr lang="en-US" sz="1600" dirty="0"/>
          </a:p>
        </p:txBody>
      </p:sp>
      <p:sp>
        <p:nvSpPr>
          <p:cNvPr id="7" name="Text 5"/>
          <p:cNvSpPr txBox="1"/>
          <p:nvPr/>
        </p:nvSpPr>
        <p:spPr>
          <a:xfrm>
            <a:off x="6233008" y="1417320"/>
            <a:ext cx="5410048" cy="365760"/>
          </a:xfrm>
          <a:prstGeom prst="rect">
            <a:avLst/>
          </a:prstGeom>
          <a:noFill/>
          <a:ln/>
        </p:spPr>
        <p:txBody>
          <a:bodyPr wrap="square" lIns="0" tIns="0" rIns="0" bIns="0" rtlCol="0" anchor="ctr"/>
          <a:lstStyle/>
          <a:p>
            <a:pPr marL="0" indent="0" algn="l">
              <a:buNone/>
            </a:pPr>
            <a:r>
              <a:rPr lang="en-US" sz="1800" b="1" dirty="0">
                <a:solidFill>
                  <a:schemeClr val="accent5"/>
                </a:solidFill>
              </a:rPr>
              <a:t>Decisions this supports</a:t>
            </a:r>
            <a:endParaRPr lang="en-US" sz="1800" dirty="0"/>
          </a:p>
        </p:txBody>
      </p:sp>
      <p:sp>
        <p:nvSpPr>
          <p:cNvPr id="8" name="Decision card 1"/>
          <p:cNvSpPr/>
          <p:nvPr/>
        </p:nvSpPr>
        <p:spPr>
          <a:xfrm>
            <a:off x="6233008" y="1965960"/>
            <a:ext cx="5410048" cy="1203960"/>
          </a:xfrm>
          <a:prstGeom prst="roundRect">
            <a:avLst>
              <a:gd name="adj" fmla="val 455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9" name="Decision Fleet circle"/>
          <p:cNvSpPr/>
          <p:nvPr/>
        </p:nvSpPr>
        <p:spPr>
          <a:xfrm>
            <a:off x="6507328" y="2225040"/>
            <a:ext cx="685800" cy="685800"/>
          </a:xfrm>
          <a:prstGeom prst="ellipse">
            <a:avLst/>
          </a:prstGeom>
          <a:solidFill>
            <a:schemeClr val="accent2"/>
          </a:solidFill>
          <a:ln/>
        </p:spPr>
        <p:txBody>
          <a:bodyPr/>
          <a:lstStyle/>
          <a:p>
            <a:endParaRPr lang="en-US"/>
          </a:p>
        </p:txBody>
      </p:sp>
      <p:pic>
        <p:nvPicPr>
          <p:cNvPr id="10" name="Decision Fleet icon" descr="preencoded.png"/>
          <p:cNvPicPr>
            <a:picLocks noChangeAspect="1"/>
          </p:cNvPicPr>
          <p:nvPr/>
        </p:nvPicPr>
        <p:blipFill>
          <a:blip r:embed="rId3"/>
          <a:stretch>
            <a:fillRect/>
          </a:stretch>
        </p:blipFill>
        <p:spPr>
          <a:xfrm>
            <a:off x="6678778" y="2396490"/>
            <a:ext cx="342900" cy="342900"/>
          </a:xfrm>
          <a:prstGeom prst="rect">
            <a:avLst/>
          </a:prstGeom>
        </p:spPr>
      </p:pic>
      <p:sp>
        <p:nvSpPr>
          <p:cNvPr id="11" name="Text 8"/>
          <p:cNvSpPr txBox="1"/>
          <p:nvPr/>
        </p:nvSpPr>
        <p:spPr>
          <a:xfrm>
            <a:off x="7467448" y="2194560"/>
            <a:ext cx="3901288" cy="365760"/>
          </a:xfrm>
          <a:prstGeom prst="rect">
            <a:avLst/>
          </a:prstGeom>
          <a:noFill/>
          <a:ln/>
        </p:spPr>
        <p:txBody>
          <a:bodyPr wrap="square" lIns="0" tIns="0" rIns="0" bIns="0" rtlCol="0" anchor="ctr"/>
          <a:lstStyle/>
          <a:p>
            <a:pPr marL="0" indent="0" algn="l">
              <a:buNone/>
            </a:pPr>
            <a:r>
              <a:rPr lang="en-US" sz="1800" b="1" dirty="0">
                <a:solidFill>
                  <a:schemeClr val="accent1"/>
                </a:solidFill>
              </a:rPr>
              <a:t>Fleet</a:t>
            </a:r>
            <a:endParaRPr lang="en-US" sz="1800" dirty="0"/>
          </a:p>
        </p:txBody>
      </p:sp>
      <p:sp>
        <p:nvSpPr>
          <p:cNvPr id="12" name="Text 9"/>
          <p:cNvSpPr txBox="1"/>
          <p:nvPr/>
        </p:nvSpPr>
        <p:spPr>
          <a:xfrm>
            <a:off x="7467448" y="2606040"/>
            <a:ext cx="3901288" cy="365760"/>
          </a:xfrm>
          <a:prstGeom prst="rect">
            <a:avLst/>
          </a:prstGeom>
          <a:noFill/>
          <a:ln/>
        </p:spPr>
        <p:txBody>
          <a:bodyPr wrap="square" lIns="0" tIns="0" rIns="0" bIns="0" rtlCol="0" anchor="t"/>
          <a:lstStyle/>
          <a:p>
            <a:pPr marL="0" indent="0" algn="l">
              <a:buNone/>
            </a:pPr>
            <a:r>
              <a:rPr lang="en-US" sz="1600" dirty="0">
                <a:solidFill>
                  <a:schemeClr val="accent5"/>
                </a:solidFill>
              </a:rPr>
              <a:t>Place bikes where riders need them</a:t>
            </a:r>
            <a:endParaRPr lang="en-US" sz="1600" dirty="0"/>
          </a:p>
        </p:txBody>
      </p:sp>
      <p:sp>
        <p:nvSpPr>
          <p:cNvPr id="13" name="Decision card 2"/>
          <p:cNvSpPr/>
          <p:nvPr/>
        </p:nvSpPr>
        <p:spPr>
          <a:xfrm>
            <a:off x="6233008" y="3444240"/>
            <a:ext cx="5410048" cy="1203960"/>
          </a:xfrm>
          <a:prstGeom prst="roundRect">
            <a:avLst>
              <a:gd name="adj" fmla="val 455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4" name="Decision Staffing circle"/>
          <p:cNvSpPr/>
          <p:nvPr/>
        </p:nvSpPr>
        <p:spPr>
          <a:xfrm>
            <a:off x="6507328" y="3703320"/>
            <a:ext cx="685800" cy="685800"/>
          </a:xfrm>
          <a:prstGeom prst="ellipse">
            <a:avLst/>
          </a:prstGeom>
          <a:solidFill>
            <a:schemeClr val="accent2"/>
          </a:solidFill>
          <a:ln/>
        </p:spPr>
        <p:txBody>
          <a:bodyPr/>
          <a:lstStyle/>
          <a:p>
            <a:endParaRPr lang="en-US"/>
          </a:p>
        </p:txBody>
      </p:sp>
      <p:pic>
        <p:nvPicPr>
          <p:cNvPr id="15" name="Decision Staffing icon" descr="preencoded.png"/>
          <p:cNvPicPr>
            <a:picLocks noChangeAspect="1"/>
          </p:cNvPicPr>
          <p:nvPr/>
        </p:nvPicPr>
        <p:blipFill>
          <a:blip r:embed="rId4"/>
          <a:stretch>
            <a:fillRect/>
          </a:stretch>
        </p:blipFill>
        <p:spPr>
          <a:xfrm>
            <a:off x="6678778" y="3874770"/>
            <a:ext cx="342900" cy="342900"/>
          </a:xfrm>
          <a:prstGeom prst="rect">
            <a:avLst/>
          </a:prstGeom>
        </p:spPr>
      </p:pic>
      <p:sp>
        <p:nvSpPr>
          <p:cNvPr id="16" name="Text 12"/>
          <p:cNvSpPr txBox="1"/>
          <p:nvPr/>
        </p:nvSpPr>
        <p:spPr>
          <a:xfrm>
            <a:off x="7467448" y="3672840"/>
            <a:ext cx="3901288" cy="365760"/>
          </a:xfrm>
          <a:prstGeom prst="rect">
            <a:avLst/>
          </a:prstGeom>
          <a:noFill/>
          <a:ln/>
        </p:spPr>
        <p:txBody>
          <a:bodyPr wrap="square" lIns="0" tIns="0" rIns="0" bIns="0" rtlCol="0" anchor="ctr"/>
          <a:lstStyle/>
          <a:p>
            <a:pPr marL="0" indent="0" algn="l">
              <a:buNone/>
            </a:pPr>
            <a:r>
              <a:rPr lang="en-US" sz="1800" b="1" dirty="0">
                <a:solidFill>
                  <a:schemeClr val="accent1"/>
                </a:solidFill>
              </a:rPr>
              <a:t>Staffing</a:t>
            </a:r>
            <a:endParaRPr lang="en-US" sz="1800" dirty="0"/>
          </a:p>
        </p:txBody>
      </p:sp>
      <p:sp>
        <p:nvSpPr>
          <p:cNvPr id="17" name="Text 13"/>
          <p:cNvSpPr txBox="1"/>
          <p:nvPr/>
        </p:nvSpPr>
        <p:spPr>
          <a:xfrm>
            <a:off x="7467448" y="4084320"/>
            <a:ext cx="3901288" cy="365760"/>
          </a:xfrm>
          <a:prstGeom prst="rect">
            <a:avLst/>
          </a:prstGeom>
          <a:noFill/>
          <a:ln/>
        </p:spPr>
        <p:txBody>
          <a:bodyPr wrap="square" lIns="0" tIns="0" rIns="0" bIns="0" rtlCol="0" anchor="t"/>
          <a:lstStyle/>
          <a:p>
            <a:pPr marL="0" indent="0" algn="l">
              <a:buNone/>
            </a:pPr>
            <a:r>
              <a:rPr lang="en-US" sz="1600" dirty="0">
                <a:solidFill>
                  <a:schemeClr val="accent5"/>
                </a:solidFill>
              </a:rPr>
              <a:t>Plan rebalancing and repair crews</a:t>
            </a:r>
            <a:endParaRPr lang="en-US" sz="1600" dirty="0"/>
          </a:p>
        </p:txBody>
      </p:sp>
      <p:sp>
        <p:nvSpPr>
          <p:cNvPr id="18" name="Decision card 3"/>
          <p:cNvSpPr/>
          <p:nvPr/>
        </p:nvSpPr>
        <p:spPr>
          <a:xfrm>
            <a:off x="6233008" y="4922520"/>
            <a:ext cx="5410048" cy="1203960"/>
          </a:xfrm>
          <a:prstGeom prst="roundRect">
            <a:avLst>
              <a:gd name="adj" fmla="val 455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9" name="Decision Marketing circle"/>
          <p:cNvSpPr/>
          <p:nvPr/>
        </p:nvSpPr>
        <p:spPr>
          <a:xfrm>
            <a:off x="6507328" y="5181600"/>
            <a:ext cx="685800" cy="685800"/>
          </a:xfrm>
          <a:prstGeom prst="ellipse">
            <a:avLst/>
          </a:prstGeom>
          <a:solidFill>
            <a:schemeClr val="accent2"/>
          </a:solidFill>
          <a:ln/>
        </p:spPr>
        <p:txBody>
          <a:bodyPr/>
          <a:lstStyle/>
          <a:p>
            <a:endParaRPr lang="en-US"/>
          </a:p>
        </p:txBody>
      </p:sp>
      <p:pic>
        <p:nvPicPr>
          <p:cNvPr id="20" name="Decision Marketing icon" descr="preencoded.png"/>
          <p:cNvPicPr>
            <a:picLocks noChangeAspect="1"/>
          </p:cNvPicPr>
          <p:nvPr/>
        </p:nvPicPr>
        <p:blipFill>
          <a:blip r:embed="rId5"/>
          <a:stretch>
            <a:fillRect/>
          </a:stretch>
        </p:blipFill>
        <p:spPr>
          <a:xfrm>
            <a:off x="6678778" y="5353050"/>
            <a:ext cx="342900" cy="342900"/>
          </a:xfrm>
          <a:prstGeom prst="rect">
            <a:avLst/>
          </a:prstGeom>
        </p:spPr>
      </p:pic>
      <p:sp>
        <p:nvSpPr>
          <p:cNvPr id="21" name="Text 16"/>
          <p:cNvSpPr txBox="1"/>
          <p:nvPr/>
        </p:nvSpPr>
        <p:spPr>
          <a:xfrm>
            <a:off x="7467448" y="5151120"/>
            <a:ext cx="3901288" cy="365760"/>
          </a:xfrm>
          <a:prstGeom prst="rect">
            <a:avLst/>
          </a:prstGeom>
          <a:noFill/>
          <a:ln/>
        </p:spPr>
        <p:txBody>
          <a:bodyPr wrap="square" lIns="0" tIns="0" rIns="0" bIns="0" rtlCol="0" anchor="ctr"/>
          <a:lstStyle/>
          <a:p>
            <a:pPr marL="0" indent="0" algn="l">
              <a:buNone/>
            </a:pPr>
            <a:r>
              <a:rPr lang="en-US" sz="1800" b="1" dirty="0">
                <a:solidFill>
                  <a:schemeClr val="accent1"/>
                </a:solidFill>
              </a:rPr>
              <a:t>Marketing</a:t>
            </a:r>
            <a:endParaRPr lang="en-US" sz="1800" dirty="0"/>
          </a:p>
        </p:txBody>
      </p:sp>
      <p:sp>
        <p:nvSpPr>
          <p:cNvPr id="22" name="Text 17"/>
          <p:cNvSpPr txBox="1"/>
          <p:nvPr/>
        </p:nvSpPr>
        <p:spPr>
          <a:xfrm>
            <a:off x="7467448" y="5562600"/>
            <a:ext cx="3901288" cy="365760"/>
          </a:xfrm>
          <a:prstGeom prst="rect">
            <a:avLst/>
          </a:prstGeom>
          <a:noFill/>
          <a:ln/>
        </p:spPr>
        <p:txBody>
          <a:bodyPr wrap="square" lIns="0" tIns="0" rIns="0" bIns="0" rtlCol="0" anchor="t"/>
          <a:lstStyle/>
          <a:p>
            <a:pPr marL="0" indent="0" algn="l">
              <a:buNone/>
            </a:pPr>
            <a:r>
              <a:rPr lang="en-US" sz="1600" dirty="0">
                <a:solidFill>
                  <a:schemeClr val="accent5"/>
                </a:solidFill>
              </a:rPr>
              <a:t>Target casual and weekend riders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Three source files combine into 1,000 hourly records</a:t>
            </a:r>
            <a:endParaRPr lang="en-US" sz="2600" dirty="0"/>
          </a:p>
        </p:txBody>
      </p:sp>
      <p:sp>
        <p:nvSpPr>
          <p:cNvPr id="3" name="Dataset 1"/>
          <p:cNvSpPr/>
          <p:nvPr/>
        </p:nvSpPr>
        <p:spPr>
          <a:xfrm>
            <a:off x="548640" y="1417320"/>
            <a:ext cx="2567864" cy="3108960"/>
          </a:xfrm>
          <a:prstGeom prst="roundRect">
            <a:avLst>
              <a:gd name="adj" fmla="val 213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Dataset 1 dot"/>
          <p:cNvSpPr/>
          <p:nvPr/>
        </p:nvSpPr>
        <p:spPr>
          <a:xfrm>
            <a:off x="822960" y="1691640"/>
            <a:ext cx="502920" cy="502920"/>
          </a:xfrm>
          <a:prstGeom prst="ellipse">
            <a:avLst/>
          </a:prstGeom>
          <a:solidFill>
            <a:schemeClr val="accent1"/>
          </a:solidFill>
          <a:ln/>
        </p:spPr>
        <p:txBody>
          <a:bodyPr/>
          <a:lstStyle/>
          <a:p>
            <a:endParaRPr lang="en-US"/>
          </a:p>
        </p:txBody>
      </p:sp>
      <p:sp>
        <p:nvSpPr>
          <p:cNvPr id="5" name="Text 3"/>
          <p:cNvSpPr txBox="1"/>
          <p:nvPr/>
        </p:nvSpPr>
        <p:spPr>
          <a:xfrm>
            <a:off x="822960" y="169164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D1</a:t>
            </a:r>
            <a:endParaRPr lang="en-US" sz="1400" dirty="0"/>
          </a:p>
        </p:txBody>
      </p:sp>
      <p:sp>
        <p:nvSpPr>
          <p:cNvPr id="6" name="Text 4"/>
          <p:cNvSpPr txBox="1"/>
          <p:nvPr/>
        </p:nvSpPr>
        <p:spPr>
          <a:xfrm>
            <a:off x="822960" y="2331720"/>
            <a:ext cx="2019224" cy="365760"/>
          </a:xfrm>
          <a:prstGeom prst="rect">
            <a:avLst/>
          </a:prstGeom>
          <a:noFill/>
          <a:ln/>
        </p:spPr>
        <p:txBody>
          <a:bodyPr wrap="square" lIns="0" tIns="0" rIns="0" bIns="0" rtlCol="0" anchor="ctr"/>
          <a:lstStyle/>
          <a:p>
            <a:pPr marL="0" indent="0" algn="l">
              <a:buNone/>
            </a:pPr>
            <a:r>
              <a:rPr lang="en-US" sz="1800" b="1" dirty="0">
                <a:solidFill>
                  <a:schemeClr val="accent1"/>
                </a:solidFill>
              </a:rPr>
              <a:t>Dataset 1</a:t>
            </a:r>
            <a:endParaRPr lang="en-US" sz="1800" dirty="0"/>
          </a:p>
        </p:txBody>
      </p:sp>
      <p:sp>
        <p:nvSpPr>
          <p:cNvPr id="7" name="Text 5"/>
          <p:cNvSpPr txBox="1"/>
          <p:nvPr/>
        </p:nvSpPr>
        <p:spPr>
          <a:xfrm>
            <a:off x="822960" y="2715768"/>
            <a:ext cx="2019224" cy="292608"/>
          </a:xfrm>
          <a:prstGeom prst="rect">
            <a:avLst/>
          </a:prstGeom>
          <a:noFill/>
          <a:ln/>
        </p:spPr>
        <p:txBody>
          <a:bodyPr wrap="square" lIns="0" tIns="0" rIns="0" bIns="0" rtlCol="0" anchor="t"/>
          <a:lstStyle/>
          <a:p>
            <a:pPr marL="0" indent="0" algn="l">
              <a:buNone/>
            </a:pPr>
            <a:r>
              <a:rPr lang="en-US" sz="1600" dirty="0">
                <a:solidFill>
                  <a:schemeClr val="accent5"/>
                </a:solidFill>
              </a:rPr>
              <a:t>610 rows x 10 cols</a:t>
            </a:r>
            <a:endParaRPr lang="en-US" sz="1600" dirty="0"/>
          </a:p>
        </p:txBody>
      </p:sp>
      <p:sp>
        <p:nvSpPr>
          <p:cNvPr id="8" name="Text 6"/>
          <p:cNvSpPr txBox="1"/>
          <p:nvPr/>
        </p:nvSpPr>
        <p:spPr>
          <a:xfrm>
            <a:off x="822960" y="3108960"/>
            <a:ext cx="2019224" cy="292608"/>
          </a:xfrm>
          <a:prstGeom prst="rect">
            <a:avLst/>
          </a:prstGeom>
          <a:noFill/>
          <a:ln/>
        </p:spPr>
        <p:txBody>
          <a:bodyPr wrap="square" lIns="0" tIns="0" rIns="0" bIns="0" rtlCol="0" anchor="t"/>
          <a:lstStyle/>
          <a:p>
            <a:pPr marL="0" indent="0" algn="l">
              <a:buNone/>
            </a:pPr>
            <a:r>
              <a:rPr lang="en-US" sz="1600" b="1" dirty="0">
                <a:solidFill>
                  <a:schemeClr val="tx1"/>
                </a:solidFill>
              </a:rPr>
              <a:t>Time and weather</a:t>
            </a:r>
            <a:endParaRPr lang="en-US" sz="1600" dirty="0"/>
          </a:p>
        </p:txBody>
      </p:sp>
      <p:sp>
        <p:nvSpPr>
          <p:cNvPr id="9" name="Text 7"/>
          <p:cNvSpPr txBox="1"/>
          <p:nvPr/>
        </p:nvSpPr>
        <p:spPr>
          <a:xfrm>
            <a:off x="822960" y="3474720"/>
            <a:ext cx="2019224" cy="914400"/>
          </a:xfrm>
          <a:prstGeom prst="rect">
            <a:avLst/>
          </a:prstGeom>
          <a:noFill/>
          <a:ln/>
        </p:spPr>
        <p:txBody>
          <a:bodyPr wrap="square" lIns="0" tIns="0" rIns="0" bIns="0" rtlCol="0" anchor="t"/>
          <a:lstStyle/>
          <a:p>
            <a:pPr marL="0" indent="0" algn="l">
              <a:buNone/>
            </a:pPr>
            <a:r>
              <a:rPr lang="en-US" sz="1600" dirty="0">
                <a:solidFill>
                  <a:schemeClr val="accent5"/>
                </a:solidFill>
              </a:rPr>
              <a:t>Date, hour, calendar flags, weather, temperature</a:t>
            </a:r>
            <a:endParaRPr lang="en-US" sz="1600" dirty="0"/>
          </a:p>
        </p:txBody>
      </p:sp>
      <p:sp>
        <p:nvSpPr>
          <p:cNvPr id="10" name="Dataset 2"/>
          <p:cNvSpPr/>
          <p:nvPr/>
        </p:nvSpPr>
        <p:spPr>
          <a:xfrm>
            <a:off x="3390824" y="1417320"/>
            <a:ext cx="2567864" cy="3108960"/>
          </a:xfrm>
          <a:prstGeom prst="roundRect">
            <a:avLst>
              <a:gd name="adj" fmla="val 213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1" name="Dataset 2 dot"/>
          <p:cNvSpPr/>
          <p:nvPr/>
        </p:nvSpPr>
        <p:spPr>
          <a:xfrm>
            <a:off x="3665144" y="1691640"/>
            <a:ext cx="502920" cy="502920"/>
          </a:xfrm>
          <a:prstGeom prst="ellipse">
            <a:avLst/>
          </a:prstGeom>
          <a:solidFill>
            <a:schemeClr val="accent2"/>
          </a:solidFill>
          <a:ln/>
        </p:spPr>
        <p:txBody>
          <a:bodyPr/>
          <a:lstStyle/>
          <a:p>
            <a:endParaRPr lang="en-US"/>
          </a:p>
        </p:txBody>
      </p:sp>
      <p:sp>
        <p:nvSpPr>
          <p:cNvPr id="12" name="Text 10"/>
          <p:cNvSpPr txBox="1"/>
          <p:nvPr/>
        </p:nvSpPr>
        <p:spPr>
          <a:xfrm>
            <a:off x="3665144" y="1691640"/>
            <a:ext cx="502920" cy="502920"/>
          </a:xfrm>
          <a:prstGeom prst="rect">
            <a:avLst/>
          </a:prstGeom>
          <a:noFill/>
          <a:ln/>
        </p:spPr>
        <p:txBody>
          <a:bodyPr wrap="square" lIns="0" tIns="0" rIns="0" bIns="0" rtlCol="0" anchor="ctr"/>
          <a:lstStyle/>
          <a:p>
            <a:pPr marL="0" indent="0" algn="ctr">
              <a:buNone/>
            </a:pPr>
            <a:r>
              <a:rPr lang="en-US" sz="1400" b="1" dirty="0">
                <a:solidFill>
                  <a:schemeClr val="bg1"/>
                </a:solidFill>
              </a:rPr>
              <a:t>D2</a:t>
            </a:r>
            <a:endParaRPr lang="en-US" sz="1400" dirty="0"/>
          </a:p>
        </p:txBody>
      </p:sp>
      <p:sp>
        <p:nvSpPr>
          <p:cNvPr id="13" name="Text 11"/>
          <p:cNvSpPr txBox="1"/>
          <p:nvPr/>
        </p:nvSpPr>
        <p:spPr>
          <a:xfrm>
            <a:off x="3665144" y="2331720"/>
            <a:ext cx="2019224" cy="365760"/>
          </a:xfrm>
          <a:prstGeom prst="rect">
            <a:avLst/>
          </a:prstGeom>
          <a:noFill/>
          <a:ln/>
        </p:spPr>
        <p:txBody>
          <a:bodyPr wrap="square" lIns="0" tIns="0" rIns="0" bIns="0" rtlCol="0" anchor="ctr"/>
          <a:lstStyle/>
          <a:p>
            <a:pPr marL="0" indent="0" algn="l">
              <a:buNone/>
            </a:pPr>
            <a:r>
              <a:rPr lang="en-US" sz="1800" b="1" dirty="0">
                <a:solidFill>
                  <a:schemeClr val="accent1"/>
                </a:solidFill>
              </a:rPr>
              <a:t>Dataset 2</a:t>
            </a:r>
            <a:endParaRPr lang="en-US" sz="1800" dirty="0"/>
          </a:p>
        </p:txBody>
      </p:sp>
      <p:sp>
        <p:nvSpPr>
          <p:cNvPr id="14" name="Text 12"/>
          <p:cNvSpPr txBox="1"/>
          <p:nvPr/>
        </p:nvSpPr>
        <p:spPr>
          <a:xfrm>
            <a:off x="3665144" y="2715768"/>
            <a:ext cx="2019224" cy="292608"/>
          </a:xfrm>
          <a:prstGeom prst="rect">
            <a:avLst/>
          </a:prstGeom>
          <a:noFill/>
          <a:ln/>
        </p:spPr>
        <p:txBody>
          <a:bodyPr wrap="square" lIns="0" tIns="0" rIns="0" bIns="0" rtlCol="0" anchor="t"/>
          <a:lstStyle/>
          <a:p>
            <a:pPr marL="0" indent="0" algn="l">
              <a:buNone/>
            </a:pPr>
            <a:r>
              <a:rPr lang="en-US" sz="1600" dirty="0">
                <a:solidFill>
                  <a:schemeClr val="accent5"/>
                </a:solidFill>
              </a:rPr>
              <a:t>610 rows x 7 cols</a:t>
            </a:r>
            <a:endParaRPr lang="en-US" sz="1600" dirty="0"/>
          </a:p>
        </p:txBody>
      </p:sp>
      <p:sp>
        <p:nvSpPr>
          <p:cNvPr id="15" name="Text 13"/>
          <p:cNvSpPr txBox="1"/>
          <p:nvPr/>
        </p:nvSpPr>
        <p:spPr>
          <a:xfrm>
            <a:off x="3665144" y="3108960"/>
            <a:ext cx="2019224" cy="292608"/>
          </a:xfrm>
          <a:prstGeom prst="rect">
            <a:avLst/>
          </a:prstGeom>
          <a:noFill/>
          <a:ln/>
        </p:spPr>
        <p:txBody>
          <a:bodyPr wrap="square" lIns="0" tIns="0" rIns="0" bIns="0" rtlCol="0" anchor="t"/>
          <a:lstStyle/>
          <a:p>
            <a:pPr marL="0" indent="0" algn="l">
              <a:buNone/>
            </a:pPr>
            <a:r>
              <a:rPr lang="en-US" sz="1600" b="1" dirty="0">
                <a:solidFill>
                  <a:schemeClr val="tx1"/>
                </a:solidFill>
              </a:rPr>
              <a:t>Conditions, rentals</a:t>
            </a:r>
            <a:endParaRPr lang="en-US" sz="1600" dirty="0"/>
          </a:p>
        </p:txBody>
      </p:sp>
      <p:sp>
        <p:nvSpPr>
          <p:cNvPr id="16" name="Text 14"/>
          <p:cNvSpPr txBox="1"/>
          <p:nvPr/>
        </p:nvSpPr>
        <p:spPr>
          <a:xfrm>
            <a:off x="3665144" y="3474720"/>
            <a:ext cx="2019224" cy="914400"/>
          </a:xfrm>
          <a:prstGeom prst="rect">
            <a:avLst/>
          </a:prstGeom>
          <a:noFill/>
          <a:ln/>
        </p:spPr>
        <p:txBody>
          <a:bodyPr wrap="square" lIns="0" tIns="0" rIns="0" bIns="0" rtlCol="0" anchor="t"/>
          <a:lstStyle/>
          <a:p>
            <a:pPr marL="0" indent="0" algn="l">
              <a:buNone/>
            </a:pPr>
            <a:r>
              <a:rPr lang="en-US" sz="1600" dirty="0">
                <a:solidFill>
                  <a:schemeClr val="accent5"/>
                </a:solidFill>
              </a:rPr>
              <a:t>Feels-like temp, humidity, wind, rental counts</a:t>
            </a:r>
            <a:endParaRPr lang="en-US" sz="1600" dirty="0"/>
          </a:p>
        </p:txBody>
      </p:sp>
      <p:sp>
        <p:nvSpPr>
          <p:cNvPr id="17" name="Dataset 3"/>
          <p:cNvSpPr/>
          <p:nvPr/>
        </p:nvSpPr>
        <p:spPr>
          <a:xfrm>
            <a:off x="6233008" y="1417320"/>
            <a:ext cx="2567864" cy="3108960"/>
          </a:xfrm>
          <a:prstGeom prst="roundRect">
            <a:avLst>
              <a:gd name="adj" fmla="val 2137"/>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8" name="Dataset 3 dot"/>
          <p:cNvSpPr/>
          <p:nvPr/>
        </p:nvSpPr>
        <p:spPr>
          <a:xfrm>
            <a:off x="6507328" y="1691640"/>
            <a:ext cx="502920" cy="502920"/>
          </a:xfrm>
          <a:prstGeom prst="ellipse">
            <a:avLst/>
          </a:prstGeom>
          <a:solidFill>
            <a:schemeClr val="accent3"/>
          </a:solidFill>
          <a:ln/>
        </p:spPr>
        <p:txBody>
          <a:bodyPr/>
          <a:lstStyle/>
          <a:p>
            <a:endParaRPr lang="en-US"/>
          </a:p>
        </p:txBody>
      </p:sp>
      <p:sp>
        <p:nvSpPr>
          <p:cNvPr id="19" name="Text 17"/>
          <p:cNvSpPr txBox="1"/>
          <p:nvPr/>
        </p:nvSpPr>
        <p:spPr>
          <a:xfrm>
            <a:off x="6507328" y="1691640"/>
            <a:ext cx="502920" cy="502920"/>
          </a:xfrm>
          <a:prstGeom prst="rect">
            <a:avLst/>
          </a:prstGeom>
          <a:noFill/>
          <a:ln/>
        </p:spPr>
        <p:txBody>
          <a:bodyPr wrap="square" lIns="0" tIns="0" rIns="0" bIns="0" rtlCol="0" anchor="ctr"/>
          <a:lstStyle/>
          <a:p>
            <a:pPr marL="0" indent="0" algn="ctr">
              <a:buNone/>
            </a:pPr>
            <a:r>
              <a:rPr lang="en-US" sz="1400" b="1" dirty="0">
                <a:solidFill>
                  <a:schemeClr val="accent1"/>
                </a:solidFill>
              </a:rPr>
              <a:t>D3</a:t>
            </a:r>
            <a:endParaRPr lang="en-US" sz="1400" dirty="0"/>
          </a:p>
        </p:txBody>
      </p:sp>
      <p:sp>
        <p:nvSpPr>
          <p:cNvPr id="20" name="Text 18"/>
          <p:cNvSpPr txBox="1"/>
          <p:nvPr/>
        </p:nvSpPr>
        <p:spPr>
          <a:xfrm>
            <a:off x="6507328" y="2331720"/>
            <a:ext cx="2019224" cy="365760"/>
          </a:xfrm>
          <a:prstGeom prst="rect">
            <a:avLst/>
          </a:prstGeom>
          <a:noFill/>
          <a:ln/>
        </p:spPr>
        <p:txBody>
          <a:bodyPr wrap="square" lIns="0" tIns="0" rIns="0" bIns="0" rtlCol="0" anchor="ctr"/>
          <a:lstStyle/>
          <a:p>
            <a:pPr marL="0" indent="0" algn="l">
              <a:buNone/>
            </a:pPr>
            <a:r>
              <a:rPr lang="en-US" sz="1800" b="1" dirty="0">
                <a:solidFill>
                  <a:schemeClr val="accent1"/>
                </a:solidFill>
              </a:rPr>
              <a:t>Dataset 3</a:t>
            </a:r>
            <a:endParaRPr lang="en-US" sz="1800" dirty="0"/>
          </a:p>
        </p:txBody>
      </p:sp>
      <p:sp>
        <p:nvSpPr>
          <p:cNvPr id="21" name="Text 19"/>
          <p:cNvSpPr txBox="1"/>
          <p:nvPr/>
        </p:nvSpPr>
        <p:spPr>
          <a:xfrm>
            <a:off x="6507328" y="2715768"/>
            <a:ext cx="2019224" cy="292608"/>
          </a:xfrm>
          <a:prstGeom prst="rect">
            <a:avLst/>
          </a:prstGeom>
          <a:noFill/>
          <a:ln/>
        </p:spPr>
        <p:txBody>
          <a:bodyPr wrap="square" lIns="0" tIns="0" rIns="0" bIns="0" rtlCol="0" anchor="t"/>
          <a:lstStyle/>
          <a:p>
            <a:pPr marL="0" indent="0" algn="l">
              <a:buNone/>
            </a:pPr>
            <a:r>
              <a:rPr lang="en-US" sz="1600" dirty="0">
                <a:solidFill>
                  <a:schemeClr val="accent5"/>
                </a:solidFill>
              </a:rPr>
              <a:t>390 rows x 16 cols</a:t>
            </a:r>
            <a:endParaRPr lang="en-US" sz="1600" dirty="0"/>
          </a:p>
        </p:txBody>
      </p:sp>
      <p:sp>
        <p:nvSpPr>
          <p:cNvPr id="22" name="Text 20"/>
          <p:cNvSpPr txBox="1"/>
          <p:nvPr/>
        </p:nvSpPr>
        <p:spPr>
          <a:xfrm>
            <a:off x="6507328" y="3108960"/>
            <a:ext cx="2019224" cy="292608"/>
          </a:xfrm>
          <a:prstGeom prst="rect">
            <a:avLst/>
          </a:prstGeom>
          <a:noFill/>
          <a:ln/>
        </p:spPr>
        <p:txBody>
          <a:bodyPr wrap="square" lIns="0" tIns="0" rIns="0" bIns="0" rtlCol="0" anchor="t"/>
          <a:lstStyle/>
          <a:p>
            <a:pPr marL="0" indent="0" algn="l">
              <a:buNone/>
            </a:pPr>
            <a:r>
              <a:rPr lang="en-US" sz="1600" b="1" dirty="0">
                <a:solidFill>
                  <a:schemeClr val="tx1"/>
                </a:solidFill>
              </a:rPr>
              <a:t>Later hours</a:t>
            </a:r>
            <a:endParaRPr lang="en-US" sz="1600" dirty="0"/>
          </a:p>
        </p:txBody>
      </p:sp>
      <p:sp>
        <p:nvSpPr>
          <p:cNvPr id="23" name="Text 21"/>
          <p:cNvSpPr txBox="1"/>
          <p:nvPr/>
        </p:nvSpPr>
        <p:spPr>
          <a:xfrm>
            <a:off x="6507328" y="3474720"/>
            <a:ext cx="2019224" cy="914400"/>
          </a:xfrm>
          <a:prstGeom prst="rect">
            <a:avLst/>
          </a:prstGeom>
          <a:noFill/>
          <a:ln/>
        </p:spPr>
        <p:txBody>
          <a:bodyPr wrap="square" lIns="0" tIns="0" rIns="0" bIns="0" rtlCol="0" anchor="t"/>
          <a:lstStyle/>
          <a:p>
            <a:pPr marL="0" indent="0" algn="l">
              <a:buNone/>
            </a:pPr>
            <a:r>
              <a:rPr lang="en-US" sz="1600" dirty="0">
                <a:solidFill>
                  <a:schemeClr val="accent5"/>
                </a:solidFill>
              </a:rPr>
              <a:t>Records 611 to 1,000, all 16 fields</a:t>
            </a:r>
            <a:endParaRPr lang="en-US" sz="1600" dirty="0"/>
          </a:p>
        </p:txBody>
      </p:sp>
      <p:sp>
        <p:nvSpPr>
          <p:cNvPr id="24" name="Final dataset card"/>
          <p:cNvSpPr/>
          <p:nvPr/>
        </p:nvSpPr>
        <p:spPr>
          <a:xfrm>
            <a:off x="9075191" y="1417320"/>
            <a:ext cx="2567864" cy="3108960"/>
          </a:xfrm>
          <a:prstGeom prst="roundRect">
            <a:avLst>
              <a:gd name="adj" fmla="val 2137"/>
            </a:avLst>
          </a:prstGeom>
          <a:solidFill>
            <a:schemeClr val="accent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5" name="Text 23"/>
          <p:cNvSpPr txBox="1"/>
          <p:nvPr/>
        </p:nvSpPr>
        <p:spPr>
          <a:xfrm>
            <a:off x="9349511" y="1691640"/>
            <a:ext cx="2019224" cy="365760"/>
          </a:xfrm>
          <a:prstGeom prst="rect">
            <a:avLst/>
          </a:prstGeom>
          <a:noFill/>
          <a:ln/>
        </p:spPr>
        <p:txBody>
          <a:bodyPr wrap="square" lIns="0" tIns="0" rIns="0" bIns="0" rtlCol="0" anchor="ctr"/>
          <a:lstStyle/>
          <a:p>
            <a:pPr marL="0" indent="0" algn="l">
              <a:buNone/>
            </a:pPr>
            <a:r>
              <a:rPr lang="en-US" sz="1800" b="1" dirty="0">
                <a:solidFill>
                  <a:schemeClr val="accent3"/>
                </a:solidFill>
              </a:rPr>
              <a:t>Final dataset</a:t>
            </a:r>
            <a:endParaRPr lang="en-US" sz="1800" dirty="0"/>
          </a:p>
        </p:txBody>
      </p:sp>
      <p:sp>
        <p:nvSpPr>
          <p:cNvPr id="26" name="Text 24"/>
          <p:cNvSpPr txBox="1"/>
          <p:nvPr/>
        </p:nvSpPr>
        <p:spPr>
          <a:xfrm>
            <a:off x="9349511" y="2148840"/>
            <a:ext cx="2019224" cy="777240"/>
          </a:xfrm>
          <a:prstGeom prst="rect">
            <a:avLst/>
          </a:prstGeom>
          <a:noFill/>
          <a:ln/>
        </p:spPr>
        <p:txBody>
          <a:bodyPr wrap="square" lIns="0" tIns="0" rIns="0" bIns="0" rtlCol="0" anchor="ctr"/>
          <a:lstStyle/>
          <a:p>
            <a:pPr marL="0" indent="0" algn="l">
              <a:buNone/>
            </a:pPr>
            <a:r>
              <a:rPr lang="en-US" sz="4800" b="1" dirty="0">
                <a:solidFill>
                  <a:schemeClr val="bg1"/>
                </a:solidFill>
              </a:rPr>
              <a:t>1,000</a:t>
            </a:r>
            <a:endParaRPr lang="en-US" sz="4800" dirty="0"/>
          </a:p>
        </p:txBody>
      </p:sp>
      <p:sp>
        <p:nvSpPr>
          <p:cNvPr id="27" name="Text 25"/>
          <p:cNvSpPr txBox="1"/>
          <p:nvPr/>
        </p:nvSpPr>
        <p:spPr>
          <a:xfrm>
            <a:off x="9349511" y="2971800"/>
            <a:ext cx="2019224" cy="320040"/>
          </a:xfrm>
          <a:prstGeom prst="rect">
            <a:avLst/>
          </a:prstGeom>
          <a:noFill/>
          <a:ln/>
        </p:spPr>
        <p:txBody>
          <a:bodyPr wrap="square" lIns="0" tIns="0" rIns="0" bIns="0" rtlCol="0" anchor="t"/>
          <a:lstStyle/>
          <a:p>
            <a:pPr marL="0" indent="0" algn="l">
              <a:buNone/>
            </a:pPr>
            <a:r>
              <a:rPr lang="en-US" sz="1600" dirty="0">
                <a:solidFill>
                  <a:schemeClr val="bg1"/>
                </a:solidFill>
              </a:rPr>
              <a:t>hourly records</a:t>
            </a:r>
            <a:endParaRPr lang="en-US" sz="1600" dirty="0"/>
          </a:p>
        </p:txBody>
      </p:sp>
      <p:sp>
        <p:nvSpPr>
          <p:cNvPr id="28" name="Text 26"/>
          <p:cNvSpPr txBox="1"/>
          <p:nvPr/>
        </p:nvSpPr>
        <p:spPr>
          <a:xfrm>
            <a:off x="9349511" y="3474720"/>
            <a:ext cx="2019224" cy="731520"/>
          </a:xfrm>
          <a:prstGeom prst="rect">
            <a:avLst/>
          </a:prstGeom>
          <a:noFill/>
          <a:ln/>
        </p:spPr>
        <p:txBody>
          <a:bodyPr wrap="square" lIns="0" tIns="0" rIns="0" bIns="0" rtlCol="0" anchor="t"/>
          <a:lstStyle/>
          <a:p>
            <a:pPr marL="0" indent="0" algn="l">
              <a:buNone/>
            </a:pPr>
            <a:r>
              <a:rPr lang="en-US" sz="1600" dirty="0">
                <a:solidFill>
                  <a:srgbClr val="C9CED3"/>
                </a:solidFill>
              </a:rPr>
              <a:t>1 Jan to 14 Feb 2011</a:t>
            </a:r>
            <a:endParaRPr lang="en-US" sz="1600" dirty="0"/>
          </a:p>
          <a:p>
            <a:pPr marL="0" indent="0" algn="l">
              <a:buNone/>
            </a:pPr>
            <a:r>
              <a:rPr lang="en-US" sz="1600" dirty="0">
                <a:solidFill>
                  <a:srgbClr val="C9CED3"/>
                </a:solidFill>
              </a:rPr>
              <a:t>Winter (season 1) only</a:t>
            </a:r>
            <a:endParaRPr lang="en-US" sz="1600" dirty="0"/>
          </a:p>
        </p:txBody>
      </p:sp>
      <p:sp>
        <p:nvSpPr>
          <p:cNvPr id="29" name="Bullets"/>
          <p:cNvSpPr txBox="1"/>
          <p:nvPr/>
        </p:nvSpPr>
        <p:spPr>
          <a:xfrm>
            <a:off x="548640" y="4937760"/>
            <a:ext cx="11094415" cy="914400"/>
          </a:xfrm>
          <a:prstGeom prst="rect">
            <a:avLst/>
          </a:prstGeom>
          <a:noFill/>
          <a:ln/>
        </p:spPr>
        <p:txBody>
          <a:bodyPr wrap="square" lIns="0" tIns="0" rIns="0" bIns="0" rtlCol="0" anchor="t"/>
          <a:lstStyle/>
          <a:p>
            <a:pPr marL="228600" indent="-228600" algn="l">
              <a:spcAft>
                <a:spcPts val="1000"/>
              </a:spcAft>
              <a:buSzPct val="100000"/>
              <a:buChar char="•"/>
            </a:pPr>
            <a:r>
              <a:rPr lang="en-US" sz="1600" dirty="0">
                <a:solidFill>
                  <a:schemeClr val="tx1"/>
                </a:solidFill>
              </a:rPr>
              <a:t>D1 and D2 cover the same 610 hours, keyed on "instant"</a:t>
            </a:r>
            <a:endParaRPr lang="en-US" sz="1600" dirty="0"/>
          </a:p>
          <a:p>
            <a:pPr marL="228600" indent="-228600" algn="l">
              <a:spcAft>
                <a:spcPts val="1000"/>
              </a:spcAft>
              <a:buSzPct val="100000"/>
              <a:buChar char="•"/>
            </a:pPr>
            <a:r>
              <a:rPr lang="en-US" sz="1600" dirty="0">
                <a:solidFill>
                  <a:schemeClr val="tx1"/>
                </a:solidFill>
              </a:rPr>
              <a:t>D3 adds records 611 to 1,000 in the 16-column format</a:t>
            </a:r>
            <a:endParaRPr lang="en-US" sz="1600" dirty="0"/>
          </a:p>
        </p:txBody>
      </p:sp>
      <p:sp>
        <p:nvSpPr>
          <p:cNvPr id="30"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Merge, append, clean: one analysis-ready table</a:t>
            </a:r>
            <a:endParaRPr lang="en-US" sz="2600" dirty="0"/>
          </a:p>
        </p:txBody>
      </p:sp>
      <p:sp>
        <p:nvSpPr>
          <p:cNvPr id="3" name="Flow D1"/>
          <p:cNvSpPr/>
          <p:nvPr/>
        </p:nvSpPr>
        <p:spPr>
          <a:xfrm>
            <a:off x="548640" y="1417320"/>
            <a:ext cx="1828800" cy="822960"/>
          </a:xfrm>
          <a:prstGeom prst="roundRect">
            <a:avLst>
              <a:gd name="adj" fmla="val 6667"/>
            </a:avLst>
          </a:prstGeom>
          <a:solidFill>
            <a:schemeClr val="accent1"/>
          </a:solidFill>
          <a:ln/>
        </p:spPr>
        <p:txBody>
          <a:bodyPr/>
          <a:lstStyle/>
          <a:p>
            <a:endParaRPr lang="en-US"/>
          </a:p>
        </p:txBody>
      </p:sp>
      <p:sp>
        <p:nvSpPr>
          <p:cNvPr id="4" name="Flow D1 label"/>
          <p:cNvSpPr txBox="1"/>
          <p:nvPr/>
        </p:nvSpPr>
        <p:spPr>
          <a:xfrm>
            <a:off x="548640" y="1417320"/>
            <a:ext cx="1828800" cy="822960"/>
          </a:xfrm>
          <a:prstGeom prst="rect">
            <a:avLst/>
          </a:prstGeom>
          <a:noFill/>
          <a:ln/>
        </p:spPr>
        <p:txBody>
          <a:bodyPr wrap="square" lIns="635" tIns="635" rIns="635" bIns="635" rtlCol="0" anchor="ctr"/>
          <a:lstStyle/>
          <a:p>
            <a:pPr marL="0" indent="0" algn="ctr">
              <a:buNone/>
            </a:pPr>
            <a:r>
              <a:rPr lang="en-US" sz="1600" b="1" dirty="0">
                <a:solidFill>
                  <a:schemeClr val="bg1"/>
                </a:solidFill>
              </a:rPr>
              <a:t>Dataset 1</a:t>
            </a:r>
            <a:endParaRPr lang="en-US" sz="1600" dirty="0"/>
          </a:p>
          <a:p>
            <a:pPr marL="0" indent="0" algn="ctr">
              <a:buNone/>
            </a:pPr>
            <a:r>
              <a:rPr lang="en-US" sz="1400" dirty="0">
                <a:solidFill>
                  <a:schemeClr val="bg1"/>
                </a:solidFill>
              </a:rPr>
              <a:t>610 x 10</a:t>
            </a:r>
            <a:endParaRPr lang="en-US" sz="1600" dirty="0"/>
          </a:p>
        </p:txBody>
      </p:sp>
      <p:sp>
        <p:nvSpPr>
          <p:cNvPr id="5" name="Flow D2"/>
          <p:cNvSpPr/>
          <p:nvPr/>
        </p:nvSpPr>
        <p:spPr>
          <a:xfrm>
            <a:off x="548640" y="2514600"/>
            <a:ext cx="1828800" cy="822960"/>
          </a:xfrm>
          <a:prstGeom prst="roundRect">
            <a:avLst>
              <a:gd name="adj" fmla="val 6667"/>
            </a:avLst>
          </a:prstGeom>
          <a:solidFill>
            <a:schemeClr val="accent2"/>
          </a:solidFill>
          <a:ln/>
        </p:spPr>
        <p:txBody>
          <a:bodyPr/>
          <a:lstStyle/>
          <a:p>
            <a:endParaRPr lang="en-US"/>
          </a:p>
        </p:txBody>
      </p:sp>
      <p:sp>
        <p:nvSpPr>
          <p:cNvPr id="6" name="Flow D2 label"/>
          <p:cNvSpPr txBox="1"/>
          <p:nvPr/>
        </p:nvSpPr>
        <p:spPr>
          <a:xfrm>
            <a:off x="548640" y="2514600"/>
            <a:ext cx="1828800" cy="822960"/>
          </a:xfrm>
          <a:prstGeom prst="rect">
            <a:avLst/>
          </a:prstGeom>
          <a:noFill/>
          <a:ln/>
        </p:spPr>
        <p:txBody>
          <a:bodyPr wrap="square" lIns="635" tIns="635" rIns="635" bIns="635" rtlCol="0" anchor="ctr"/>
          <a:lstStyle/>
          <a:p>
            <a:pPr marL="0" indent="0" algn="ctr">
              <a:buNone/>
            </a:pPr>
            <a:r>
              <a:rPr lang="en-US" sz="1600" b="1" dirty="0">
                <a:solidFill>
                  <a:schemeClr val="bg1"/>
                </a:solidFill>
              </a:rPr>
              <a:t>Dataset 2</a:t>
            </a:r>
            <a:endParaRPr lang="en-US" sz="1600" dirty="0"/>
          </a:p>
          <a:p>
            <a:pPr marL="0" indent="0" algn="ctr">
              <a:buNone/>
            </a:pPr>
            <a:r>
              <a:rPr lang="en-US" sz="1400" dirty="0">
                <a:solidFill>
                  <a:schemeClr val="bg1"/>
                </a:solidFill>
              </a:rPr>
              <a:t>610 x 7</a:t>
            </a:r>
            <a:endParaRPr lang="en-US" sz="1600" dirty="0"/>
          </a:p>
        </p:txBody>
      </p:sp>
      <p:sp>
        <p:nvSpPr>
          <p:cNvPr id="7" name="Arrow D1"/>
          <p:cNvSpPr/>
          <p:nvPr/>
        </p:nvSpPr>
        <p:spPr>
          <a:xfrm>
            <a:off x="2377440" y="1828800"/>
            <a:ext cx="685800" cy="384048"/>
          </a:xfrm>
          <a:prstGeom prst="line">
            <a:avLst/>
          </a:prstGeom>
          <a:noFill/>
          <a:ln w="25400">
            <a:solidFill>
              <a:srgbClr val="9AA1A8"/>
            </a:solidFill>
            <a:prstDash val="solid"/>
            <a:tailEnd type="triangle"/>
          </a:ln>
        </p:spPr>
        <p:txBody>
          <a:bodyPr/>
          <a:lstStyle/>
          <a:p>
            <a:endParaRPr lang="en-US"/>
          </a:p>
        </p:txBody>
      </p:sp>
      <p:sp>
        <p:nvSpPr>
          <p:cNvPr id="8" name="Arrow D2"/>
          <p:cNvSpPr/>
          <p:nvPr/>
        </p:nvSpPr>
        <p:spPr>
          <a:xfrm>
            <a:off x="2377440" y="2926080"/>
            <a:ext cx="685800" cy="0"/>
          </a:xfrm>
          <a:prstGeom prst="line">
            <a:avLst/>
          </a:prstGeom>
          <a:noFill/>
          <a:ln w="25400">
            <a:solidFill>
              <a:srgbClr val="9AA1A8"/>
            </a:solidFill>
            <a:prstDash val="solid"/>
            <a:tailEnd type="triangle"/>
          </a:ln>
        </p:spPr>
        <p:txBody>
          <a:bodyPr/>
          <a:lstStyle/>
          <a:p>
            <a:endParaRPr lang="en-US"/>
          </a:p>
        </p:txBody>
      </p:sp>
      <p:sp>
        <p:nvSpPr>
          <p:cNvPr id="9" name="Flow A"/>
          <p:cNvSpPr/>
          <p:nvPr/>
        </p:nvSpPr>
        <p:spPr>
          <a:xfrm>
            <a:off x="3108960" y="1965960"/>
            <a:ext cx="2103120" cy="822960"/>
          </a:xfrm>
          <a:prstGeom prst="roundRect">
            <a:avLst>
              <a:gd name="adj" fmla="val 6667"/>
            </a:avLst>
          </a:prstGeom>
          <a:solidFill>
            <a:schemeClr val="accent5"/>
          </a:solidFill>
          <a:ln/>
        </p:spPr>
        <p:txBody>
          <a:bodyPr/>
          <a:lstStyle/>
          <a:p>
            <a:endParaRPr lang="en-US"/>
          </a:p>
        </p:txBody>
      </p:sp>
      <p:sp>
        <p:nvSpPr>
          <p:cNvPr id="10" name="Flow A label"/>
          <p:cNvSpPr txBox="1"/>
          <p:nvPr/>
        </p:nvSpPr>
        <p:spPr>
          <a:xfrm>
            <a:off x="3108960" y="1965960"/>
            <a:ext cx="2103120" cy="822960"/>
          </a:xfrm>
          <a:prstGeom prst="rect">
            <a:avLst/>
          </a:prstGeom>
          <a:noFill/>
          <a:ln/>
        </p:spPr>
        <p:txBody>
          <a:bodyPr wrap="square" lIns="635" tIns="635" rIns="635" bIns="635" rtlCol="0" anchor="ctr"/>
          <a:lstStyle/>
          <a:p>
            <a:pPr marL="0" indent="0" algn="ctr">
              <a:buNone/>
            </a:pPr>
            <a:r>
              <a:rPr lang="en-US" sz="1600" b="1" dirty="0">
                <a:solidFill>
                  <a:schemeClr val="bg1"/>
                </a:solidFill>
              </a:rPr>
              <a:t>Dataset A</a:t>
            </a:r>
            <a:endParaRPr lang="en-US" sz="1600" dirty="0"/>
          </a:p>
          <a:p>
            <a:pPr marL="0" indent="0" algn="ctr">
              <a:buNone/>
            </a:pPr>
            <a:r>
              <a:rPr lang="en-US" sz="1400" dirty="0">
                <a:solidFill>
                  <a:schemeClr val="bg1"/>
                </a:solidFill>
              </a:rPr>
              <a:t>610 x 16</a:t>
            </a:r>
            <a:endParaRPr lang="en-US" sz="1600" dirty="0"/>
          </a:p>
        </p:txBody>
      </p:sp>
      <p:sp>
        <p:nvSpPr>
          <p:cNvPr id="11" name="Text 9"/>
          <p:cNvSpPr txBox="1"/>
          <p:nvPr/>
        </p:nvSpPr>
        <p:spPr>
          <a:xfrm>
            <a:off x="3108960" y="2880360"/>
            <a:ext cx="2103120" cy="457200"/>
          </a:xfrm>
          <a:prstGeom prst="rect">
            <a:avLst/>
          </a:prstGeom>
          <a:noFill/>
          <a:ln/>
        </p:spPr>
        <p:txBody>
          <a:bodyPr wrap="square" lIns="0" tIns="0" rIns="0" bIns="0" rtlCol="0" anchor="t"/>
          <a:lstStyle/>
          <a:p>
            <a:pPr marL="0" indent="0" algn="ctr">
              <a:buNone/>
            </a:pPr>
            <a:r>
              <a:rPr lang="en-US" sz="1400" dirty="0">
                <a:solidFill>
                  <a:schemeClr val="accent5"/>
                </a:solidFill>
              </a:rPr>
              <a:t>Merge on "instant"</a:t>
            </a:r>
            <a:endParaRPr lang="en-US" sz="1400" dirty="0"/>
          </a:p>
          <a:p>
            <a:pPr marL="0" indent="0" algn="ctr">
              <a:buNone/>
            </a:pPr>
            <a:r>
              <a:rPr lang="en-US" sz="1400" dirty="0">
                <a:solidFill>
                  <a:schemeClr val="accent5"/>
                </a:solidFill>
              </a:rPr>
              <a:t>all keys matched</a:t>
            </a:r>
            <a:endParaRPr lang="en-US" sz="1400" dirty="0"/>
          </a:p>
        </p:txBody>
      </p:sp>
      <p:sp>
        <p:nvSpPr>
          <p:cNvPr id="12" name="Arrow A"/>
          <p:cNvSpPr/>
          <p:nvPr/>
        </p:nvSpPr>
        <p:spPr>
          <a:xfrm>
            <a:off x="5212080" y="2377440"/>
            <a:ext cx="685800" cy="0"/>
          </a:xfrm>
          <a:prstGeom prst="line">
            <a:avLst/>
          </a:prstGeom>
          <a:noFill/>
          <a:ln w="25400">
            <a:solidFill>
              <a:srgbClr val="9AA1A8"/>
            </a:solidFill>
            <a:prstDash val="solid"/>
            <a:tailEnd type="triangle"/>
          </a:ln>
        </p:spPr>
        <p:txBody>
          <a:bodyPr/>
          <a:lstStyle/>
          <a:p>
            <a:endParaRPr lang="en-US"/>
          </a:p>
        </p:txBody>
      </p:sp>
      <p:sp>
        <p:nvSpPr>
          <p:cNvPr id="13" name="Flow Final"/>
          <p:cNvSpPr/>
          <p:nvPr/>
        </p:nvSpPr>
        <p:spPr>
          <a:xfrm>
            <a:off x="5943600" y="1965960"/>
            <a:ext cx="2103120" cy="822960"/>
          </a:xfrm>
          <a:prstGeom prst="roundRect">
            <a:avLst>
              <a:gd name="adj" fmla="val 6667"/>
            </a:avLst>
          </a:prstGeom>
          <a:solidFill>
            <a:schemeClr val="accent1"/>
          </a:solidFill>
          <a:ln/>
        </p:spPr>
        <p:txBody>
          <a:bodyPr/>
          <a:lstStyle/>
          <a:p>
            <a:endParaRPr lang="en-US"/>
          </a:p>
        </p:txBody>
      </p:sp>
      <p:sp>
        <p:nvSpPr>
          <p:cNvPr id="14" name="Flow Final label"/>
          <p:cNvSpPr txBox="1"/>
          <p:nvPr/>
        </p:nvSpPr>
        <p:spPr>
          <a:xfrm>
            <a:off x="5943600" y="1965960"/>
            <a:ext cx="2103120" cy="822960"/>
          </a:xfrm>
          <a:prstGeom prst="rect">
            <a:avLst/>
          </a:prstGeom>
          <a:noFill/>
          <a:ln/>
        </p:spPr>
        <p:txBody>
          <a:bodyPr wrap="square" lIns="635" tIns="635" rIns="635" bIns="635" rtlCol="0" anchor="ctr"/>
          <a:lstStyle/>
          <a:p>
            <a:pPr marL="0" indent="0" algn="ctr">
              <a:buNone/>
            </a:pPr>
            <a:r>
              <a:rPr lang="en-US" sz="1600" b="1" dirty="0">
                <a:solidFill>
                  <a:schemeClr val="bg1"/>
                </a:solidFill>
              </a:rPr>
              <a:t>Final dataset</a:t>
            </a:r>
            <a:endParaRPr lang="en-US" sz="1600" dirty="0"/>
          </a:p>
          <a:p>
            <a:pPr marL="0" indent="0" algn="ctr">
              <a:buNone/>
            </a:pPr>
            <a:r>
              <a:rPr lang="en-US" sz="1400" dirty="0">
                <a:solidFill>
                  <a:schemeClr val="bg1"/>
                </a:solidFill>
              </a:rPr>
              <a:t>1,000 x 16</a:t>
            </a:r>
            <a:endParaRPr lang="en-US" sz="1600" dirty="0"/>
          </a:p>
        </p:txBody>
      </p:sp>
      <p:sp>
        <p:nvSpPr>
          <p:cNvPr id="15" name="Text 13"/>
          <p:cNvSpPr txBox="1"/>
          <p:nvPr/>
        </p:nvSpPr>
        <p:spPr>
          <a:xfrm>
            <a:off x="5943600" y="2880360"/>
            <a:ext cx="2103120" cy="457200"/>
          </a:xfrm>
          <a:prstGeom prst="rect">
            <a:avLst/>
          </a:prstGeom>
          <a:noFill/>
          <a:ln/>
        </p:spPr>
        <p:txBody>
          <a:bodyPr wrap="square" lIns="0" tIns="0" rIns="0" bIns="0" rtlCol="0" anchor="t"/>
          <a:lstStyle/>
          <a:p>
            <a:pPr marL="0" indent="0" algn="ctr">
              <a:buNone/>
            </a:pPr>
            <a:r>
              <a:rPr lang="en-US" sz="1400" dirty="0">
                <a:solidFill>
                  <a:schemeClr val="accent5"/>
                </a:solidFill>
              </a:rPr>
              <a:t>+ append Dataset 3</a:t>
            </a:r>
            <a:endParaRPr lang="en-US" sz="1400" dirty="0"/>
          </a:p>
          <a:p>
            <a:pPr marL="0" indent="0" algn="ctr">
              <a:buNone/>
            </a:pPr>
            <a:r>
              <a:rPr lang="en-US" sz="1400" dirty="0">
                <a:solidFill>
                  <a:schemeClr val="accent5"/>
                </a:solidFill>
              </a:rPr>
              <a:t>(390 x 16)</a:t>
            </a:r>
            <a:endParaRPr lang="en-US" sz="1400" dirty="0"/>
          </a:p>
        </p:txBody>
      </p:sp>
      <p:sp>
        <p:nvSpPr>
          <p:cNvPr id="16" name="Arrow Final"/>
          <p:cNvSpPr/>
          <p:nvPr/>
        </p:nvSpPr>
        <p:spPr>
          <a:xfrm>
            <a:off x="8046720" y="2377440"/>
            <a:ext cx="685800" cy="0"/>
          </a:xfrm>
          <a:prstGeom prst="line">
            <a:avLst/>
          </a:prstGeom>
          <a:noFill/>
          <a:ln w="25400">
            <a:solidFill>
              <a:srgbClr val="9AA1A8"/>
            </a:solidFill>
            <a:prstDash val="solid"/>
            <a:tailEnd type="triangle"/>
          </a:ln>
        </p:spPr>
        <p:txBody>
          <a:bodyPr/>
          <a:lstStyle/>
          <a:p>
            <a:endParaRPr lang="en-US"/>
          </a:p>
        </p:txBody>
      </p:sp>
      <p:sp>
        <p:nvSpPr>
          <p:cNvPr id="17" name="Flow Features"/>
          <p:cNvSpPr/>
          <p:nvPr/>
        </p:nvSpPr>
        <p:spPr>
          <a:xfrm>
            <a:off x="8778240" y="1965960"/>
            <a:ext cx="2864815" cy="822960"/>
          </a:xfrm>
          <a:prstGeom prst="roundRect">
            <a:avLst>
              <a:gd name="adj" fmla="val 6667"/>
            </a:avLst>
          </a:prstGeom>
          <a:solidFill>
            <a:schemeClr val="accent3"/>
          </a:solidFill>
          <a:ln/>
        </p:spPr>
        <p:txBody>
          <a:bodyPr/>
          <a:lstStyle/>
          <a:p>
            <a:endParaRPr lang="en-US"/>
          </a:p>
        </p:txBody>
      </p:sp>
      <p:sp>
        <p:nvSpPr>
          <p:cNvPr id="18" name="Flow Features label"/>
          <p:cNvSpPr txBox="1"/>
          <p:nvPr/>
        </p:nvSpPr>
        <p:spPr>
          <a:xfrm>
            <a:off x="8778240" y="1965960"/>
            <a:ext cx="2864815" cy="822960"/>
          </a:xfrm>
          <a:prstGeom prst="rect">
            <a:avLst/>
          </a:prstGeom>
          <a:noFill/>
          <a:ln/>
        </p:spPr>
        <p:txBody>
          <a:bodyPr wrap="square" lIns="635" tIns="635" rIns="635" bIns="635" rtlCol="0" anchor="ctr"/>
          <a:lstStyle/>
          <a:p>
            <a:pPr marL="0" indent="0" algn="ctr">
              <a:buNone/>
            </a:pPr>
            <a:r>
              <a:rPr lang="en-US" sz="1600" b="1" dirty="0">
                <a:solidFill>
                  <a:schemeClr val="accent1"/>
                </a:solidFill>
              </a:rPr>
              <a:t>+ 15 features</a:t>
            </a:r>
            <a:endParaRPr lang="en-US" sz="1600" dirty="0"/>
          </a:p>
          <a:p>
            <a:pPr marL="0" indent="0" algn="ctr">
              <a:buNone/>
            </a:pPr>
            <a:r>
              <a:rPr lang="en-US" sz="1400" dirty="0">
                <a:solidFill>
                  <a:schemeClr val="accent1"/>
                </a:solidFill>
              </a:rPr>
              <a:t>bands, flags, labels, shares</a:t>
            </a:r>
            <a:endParaRPr lang="en-US" sz="1600" dirty="0"/>
          </a:p>
        </p:txBody>
      </p:sp>
      <p:sp>
        <p:nvSpPr>
          <p:cNvPr id="19" name="Text 17"/>
          <p:cNvSpPr txBox="1"/>
          <p:nvPr/>
        </p:nvSpPr>
        <p:spPr>
          <a:xfrm>
            <a:off x="548640" y="3657600"/>
            <a:ext cx="5486400" cy="365760"/>
          </a:xfrm>
          <a:prstGeom prst="rect">
            <a:avLst/>
          </a:prstGeom>
          <a:noFill/>
          <a:ln/>
        </p:spPr>
        <p:txBody>
          <a:bodyPr wrap="square" lIns="0" tIns="0" rIns="0" bIns="0" rtlCol="0" anchor="ctr"/>
          <a:lstStyle/>
          <a:p>
            <a:pPr marL="0" indent="0" algn="l">
              <a:buNone/>
            </a:pPr>
            <a:r>
              <a:rPr lang="en-US" sz="1800" b="1" dirty="0">
                <a:solidFill>
                  <a:schemeClr val="accent5"/>
                </a:solidFill>
              </a:rPr>
              <a:t>Cleaning steps</a:t>
            </a:r>
            <a:endParaRPr lang="en-US" sz="1800" dirty="0"/>
          </a:p>
        </p:txBody>
      </p:sp>
      <p:sp>
        <p:nvSpPr>
          <p:cNvPr id="20" name="Clean step 1"/>
          <p:cNvSpPr/>
          <p:nvPr/>
        </p:nvSpPr>
        <p:spPr>
          <a:xfrm>
            <a:off x="548640" y="41605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21" name="Check 1" descr="preencoded.png"/>
          <p:cNvPicPr>
            <a:picLocks noChangeAspect="1"/>
          </p:cNvPicPr>
          <p:nvPr/>
        </p:nvPicPr>
        <p:blipFill>
          <a:blip r:embed="rId3"/>
          <a:stretch>
            <a:fillRect/>
          </a:stretch>
        </p:blipFill>
        <p:spPr>
          <a:xfrm>
            <a:off x="731520" y="4297680"/>
            <a:ext cx="274320" cy="274320"/>
          </a:xfrm>
          <a:prstGeom prst="rect">
            <a:avLst/>
          </a:prstGeom>
        </p:spPr>
      </p:pic>
      <p:sp>
        <p:nvSpPr>
          <p:cNvPr id="22" name="Text 19"/>
          <p:cNvSpPr txBox="1"/>
          <p:nvPr/>
        </p:nvSpPr>
        <p:spPr>
          <a:xfrm>
            <a:off x="1143000" y="41605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Dropped extra index column (Unnamed: 0) in D2</a:t>
            </a:r>
            <a:endParaRPr lang="en-US" sz="1600" dirty="0"/>
          </a:p>
        </p:txBody>
      </p:sp>
      <p:sp>
        <p:nvSpPr>
          <p:cNvPr id="23" name="Clean step 2"/>
          <p:cNvSpPr/>
          <p:nvPr/>
        </p:nvSpPr>
        <p:spPr>
          <a:xfrm>
            <a:off x="548640" y="48463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24" name="Check 2" descr="preencoded.png"/>
          <p:cNvPicPr>
            <a:picLocks noChangeAspect="1"/>
          </p:cNvPicPr>
          <p:nvPr/>
        </p:nvPicPr>
        <p:blipFill>
          <a:blip r:embed="rId3"/>
          <a:stretch>
            <a:fillRect/>
          </a:stretch>
        </p:blipFill>
        <p:spPr>
          <a:xfrm>
            <a:off x="731520" y="4983480"/>
            <a:ext cx="274320" cy="274320"/>
          </a:xfrm>
          <a:prstGeom prst="rect">
            <a:avLst/>
          </a:prstGeom>
        </p:spPr>
      </p:pic>
      <p:sp>
        <p:nvSpPr>
          <p:cNvPr id="25" name="Text 21"/>
          <p:cNvSpPr txBox="1"/>
          <p:nvPr/>
        </p:nvSpPr>
        <p:spPr>
          <a:xfrm>
            <a:off x="1143000" y="48463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Filled 11 blank feels-like temperatures</a:t>
            </a:r>
            <a:endParaRPr lang="en-US" sz="1600" dirty="0"/>
          </a:p>
        </p:txBody>
      </p:sp>
      <p:sp>
        <p:nvSpPr>
          <p:cNvPr id="26" name="Clean step 3"/>
          <p:cNvSpPr/>
          <p:nvPr/>
        </p:nvSpPr>
        <p:spPr>
          <a:xfrm>
            <a:off x="548640" y="55321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27" name="Check 3" descr="preencoded.png"/>
          <p:cNvPicPr>
            <a:picLocks noChangeAspect="1"/>
          </p:cNvPicPr>
          <p:nvPr/>
        </p:nvPicPr>
        <p:blipFill>
          <a:blip r:embed="rId3"/>
          <a:stretch>
            <a:fillRect/>
          </a:stretch>
        </p:blipFill>
        <p:spPr>
          <a:xfrm>
            <a:off x="731520" y="5669280"/>
            <a:ext cx="274320" cy="274320"/>
          </a:xfrm>
          <a:prstGeom prst="rect">
            <a:avLst/>
          </a:prstGeom>
        </p:spPr>
      </p:pic>
      <p:sp>
        <p:nvSpPr>
          <p:cNvPr id="28" name="Text 23"/>
          <p:cNvSpPr txBox="1"/>
          <p:nvPr/>
        </p:nvSpPr>
        <p:spPr>
          <a:xfrm>
            <a:off x="1143000" y="55321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Sorted D3 by instant before appending</a:t>
            </a:r>
            <a:endParaRPr lang="en-US" sz="1600" dirty="0"/>
          </a:p>
        </p:txBody>
      </p:sp>
      <p:sp>
        <p:nvSpPr>
          <p:cNvPr id="29" name="Clean step 4"/>
          <p:cNvSpPr/>
          <p:nvPr/>
        </p:nvSpPr>
        <p:spPr>
          <a:xfrm>
            <a:off x="6233008" y="41605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30" name="Check 4" descr="preencoded.png"/>
          <p:cNvPicPr>
            <a:picLocks noChangeAspect="1"/>
          </p:cNvPicPr>
          <p:nvPr/>
        </p:nvPicPr>
        <p:blipFill>
          <a:blip r:embed="rId3"/>
          <a:stretch>
            <a:fillRect/>
          </a:stretch>
        </p:blipFill>
        <p:spPr>
          <a:xfrm>
            <a:off x="6415888" y="4297680"/>
            <a:ext cx="274320" cy="274320"/>
          </a:xfrm>
          <a:prstGeom prst="rect">
            <a:avLst/>
          </a:prstGeom>
        </p:spPr>
      </p:pic>
      <p:sp>
        <p:nvSpPr>
          <p:cNvPr id="31" name="Text 25"/>
          <p:cNvSpPr txBox="1"/>
          <p:nvPr/>
        </p:nvSpPr>
        <p:spPr>
          <a:xfrm>
            <a:off x="6827368" y="41605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Checked duplicates: none found</a:t>
            </a:r>
            <a:endParaRPr lang="en-US" sz="1600" dirty="0"/>
          </a:p>
        </p:txBody>
      </p:sp>
      <p:sp>
        <p:nvSpPr>
          <p:cNvPr id="32" name="Clean step 5"/>
          <p:cNvSpPr/>
          <p:nvPr/>
        </p:nvSpPr>
        <p:spPr>
          <a:xfrm>
            <a:off x="6233008" y="48463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33" name="Check 5" descr="preencoded.png"/>
          <p:cNvPicPr>
            <a:picLocks noChangeAspect="1"/>
          </p:cNvPicPr>
          <p:nvPr/>
        </p:nvPicPr>
        <p:blipFill>
          <a:blip r:embed="rId3"/>
          <a:stretch>
            <a:fillRect/>
          </a:stretch>
        </p:blipFill>
        <p:spPr>
          <a:xfrm>
            <a:off x="6415888" y="4983480"/>
            <a:ext cx="274320" cy="274320"/>
          </a:xfrm>
          <a:prstGeom prst="rect">
            <a:avLst/>
          </a:prstGeom>
        </p:spPr>
      </p:pic>
      <p:sp>
        <p:nvSpPr>
          <p:cNvPr id="34" name="Text 27"/>
          <p:cNvSpPr txBox="1"/>
          <p:nvPr/>
        </p:nvSpPr>
        <p:spPr>
          <a:xfrm>
            <a:off x="6827368" y="48463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Kept temperatures as given (no conversion)</a:t>
            </a:r>
            <a:endParaRPr lang="en-US" sz="1600" dirty="0"/>
          </a:p>
        </p:txBody>
      </p:sp>
      <p:sp>
        <p:nvSpPr>
          <p:cNvPr id="35" name="Clean step 6"/>
          <p:cNvSpPr/>
          <p:nvPr/>
        </p:nvSpPr>
        <p:spPr>
          <a:xfrm>
            <a:off x="6233008" y="5532120"/>
            <a:ext cx="5410048" cy="548640"/>
          </a:xfrm>
          <a:prstGeom prst="roundRect">
            <a:avLst>
              <a:gd name="adj" fmla="val 10000"/>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36" name="Check 6" descr="preencoded.png"/>
          <p:cNvPicPr>
            <a:picLocks noChangeAspect="1"/>
          </p:cNvPicPr>
          <p:nvPr/>
        </p:nvPicPr>
        <p:blipFill>
          <a:blip r:embed="rId3"/>
          <a:stretch>
            <a:fillRect/>
          </a:stretch>
        </p:blipFill>
        <p:spPr>
          <a:xfrm>
            <a:off x="6415888" y="5669280"/>
            <a:ext cx="274320" cy="274320"/>
          </a:xfrm>
          <a:prstGeom prst="rect">
            <a:avLst/>
          </a:prstGeom>
        </p:spPr>
      </p:pic>
      <p:sp>
        <p:nvSpPr>
          <p:cNvPr id="37" name="Text 29"/>
          <p:cNvSpPr txBox="1"/>
          <p:nvPr/>
        </p:nvSpPr>
        <p:spPr>
          <a:xfrm>
            <a:off x="6827368" y="5532120"/>
            <a:ext cx="4632808" cy="548640"/>
          </a:xfrm>
          <a:prstGeom prst="rect">
            <a:avLst/>
          </a:prstGeom>
          <a:noFill/>
          <a:ln/>
        </p:spPr>
        <p:txBody>
          <a:bodyPr wrap="square" lIns="0" tIns="0" rIns="0" bIns="0" rtlCol="0" anchor="ctr"/>
          <a:lstStyle/>
          <a:p>
            <a:pPr marL="0" indent="0" algn="l">
              <a:buNone/>
            </a:pPr>
            <a:r>
              <a:rPr lang="en-US" sz="1600" dirty="0">
                <a:solidFill>
                  <a:schemeClr val="tx1"/>
                </a:solidFill>
              </a:rPr>
              <a:t>Noted 64 missing hours; 14 Feb is partial</a:t>
            </a:r>
            <a:endParaRPr lang="en-US" sz="1600" dirty="0"/>
          </a:p>
        </p:txBody>
      </p:sp>
      <p:sp>
        <p:nvSpPr>
          <p:cNvPr id="38"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15 new features built with core Excel formulas</a:t>
            </a:r>
            <a:endParaRPr lang="en-US" sz="2600" dirty="0"/>
          </a:p>
        </p:txBody>
      </p:sp>
      <p:graphicFrame>
        <p:nvGraphicFramePr>
          <p:cNvPr id="7" name="Feature table"/>
          <p:cNvGraphicFramePr>
            <a:graphicFrameLocks noGrp="1"/>
          </p:cNvGraphicFramePr>
          <p:nvPr>
            <p:extLst>
              <p:ext uri="{D42A27DB-BD31-4B8C-83A1-F6EECF244321}">
                <p14:modId xmlns:p14="http://schemas.microsoft.com/office/powerpoint/2010/main" val="1579011935"/>
              </p:ext>
            </p:extLst>
          </p:nvPr>
        </p:nvGraphicFramePr>
        <p:xfrm>
          <a:off x="548640" y="1417320"/>
          <a:ext cx="7863840" cy="4608576"/>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658368">
                <a:tc>
                  <a:txBody>
                    <a:bodyPr/>
                    <a:lstStyle/>
                    <a:p>
                      <a:pPr marL="0" indent="0">
                        <a:buNone/>
                      </a:pPr>
                      <a:r>
                        <a:rPr lang="en-US" sz="1400" b="1" dirty="0">
                          <a:solidFill>
                            <a:srgbClr val="FFFFFF"/>
                          </a:solidFill>
                        </a:rPr>
                        <a:t>Feature</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2E4057"/>
                    </a:solidFill>
                  </a:tcPr>
                </a:tc>
                <a:tc>
                  <a:txBody>
                    <a:bodyPr/>
                    <a:lstStyle/>
                    <a:p>
                      <a:pPr marL="0" indent="0">
                        <a:buNone/>
                      </a:pPr>
                      <a:r>
                        <a:rPr lang="en-US" sz="1400" b="1" dirty="0">
                          <a:solidFill>
                            <a:srgbClr val="FFFFFF"/>
                          </a:solidFill>
                        </a:rPr>
                        <a:t>Excel function</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2E4057"/>
                    </a:solidFill>
                  </a:tcPr>
                </a:tc>
                <a:tc>
                  <a:txBody>
                    <a:bodyPr/>
                    <a:lstStyle/>
                    <a:p>
                      <a:pPr marL="0" indent="0">
                        <a:buNone/>
                      </a:pPr>
                      <a:r>
                        <a:rPr lang="en-US" sz="1400" b="1" dirty="0">
                          <a:solidFill>
                            <a:srgbClr val="FFFFFF"/>
                          </a:solidFill>
                        </a:rPr>
                        <a:t>What it does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2E4057"/>
                    </a:solidFill>
                  </a:tcPr>
                </a:tc>
                <a:extLst>
                  <a:ext uri="{0D108BD9-81ED-4DB2-BD59-A6C34878D82A}">
                    <a16:rowId xmlns:a16="http://schemas.microsoft.com/office/drawing/2014/main" val="10000"/>
                  </a:ext>
                </a:extLst>
              </a:tr>
              <a:tr h="658368">
                <a:tc>
                  <a:txBody>
                    <a:bodyPr/>
                    <a:lstStyle/>
                    <a:p>
                      <a:pPr marL="0" indent="0">
                        <a:buNone/>
                      </a:pPr>
                      <a:r>
                        <a:rPr lang="en-US" sz="1400" dirty="0">
                          <a:solidFill>
                            <a:srgbClr val="2B2B2B"/>
                          </a:solidFill>
                        </a:rPr>
                        <a:t>Day_Type</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b="1" dirty="0">
                          <a:solidFill>
                            <a:srgbClr val="2E4057"/>
                          </a:solidFill>
                        </a:rPr>
                        <a:t>IF</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dirty="0">
                          <a:solidFill>
                            <a:srgbClr val="2B2B2B"/>
                          </a:solidFill>
                        </a:rPr>
                        <a:t>Working day vs weekend / holiday</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400" dirty="0">
                          <a:solidFill>
                            <a:srgbClr val="2B2B2B"/>
                          </a:solidFill>
                        </a:rPr>
                        <a:t>Weather and season names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b="1" dirty="0">
                          <a:solidFill>
                            <a:srgbClr val="2E4057"/>
                          </a:solidFill>
                        </a:rPr>
                        <a:t>VLOOKUP</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dirty="0">
                          <a:solidFill>
                            <a:srgbClr val="2B2B2B"/>
                          </a:solidFill>
                        </a:rPr>
                        <a:t>Turn codes into readable labels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extLst>
                  <a:ext uri="{0D108BD9-81ED-4DB2-BD59-A6C34878D82A}">
                    <a16:rowId xmlns:a16="http://schemas.microsoft.com/office/drawing/2014/main" val="10002"/>
                  </a:ext>
                </a:extLst>
              </a:tr>
              <a:tr h="658368">
                <a:tc>
                  <a:txBody>
                    <a:bodyPr/>
                    <a:lstStyle/>
                    <a:p>
                      <a:pPr marL="0" indent="0">
                        <a:buNone/>
                      </a:pPr>
                      <a:r>
                        <a:rPr lang="en-US" sz="1400" dirty="0">
                          <a:solidFill>
                            <a:srgbClr val="2B2B2B"/>
                          </a:solidFill>
                        </a:rPr>
                        <a:t>Time, temp and humidity bands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b="1" dirty="0">
                          <a:solidFill>
                            <a:srgbClr val="2E4057"/>
                          </a:solidFill>
                        </a:rPr>
                        <a:t>INDEX-MATCH</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dirty="0">
                          <a:solidFill>
                            <a:srgbClr val="2B2B2B"/>
                          </a:solidFill>
                        </a:rPr>
                        <a:t>Group hours and readings into bands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buNone/>
                      </a:pPr>
                      <a:r>
                        <a:rPr lang="en-US" sz="1400" dirty="0">
                          <a:solidFill>
                            <a:srgbClr val="2B2B2B"/>
                          </a:solidFill>
                        </a:rPr>
                        <a:t>Peak flag</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b="1" dirty="0">
                          <a:solidFill>
                            <a:srgbClr val="2E4057"/>
                          </a:solidFill>
                        </a:rPr>
                        <a:t>IF + AND / OR</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dirty="0">
                          <a:solidFill>
                            <a:srgbClr val="2B2B2B"/>
                          </a:solidFill>
                        </a:rPr>
                        <a:t>Mark weekday commute hours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extLst>
                  <a:ext uri="{0D108BD9-81ED-4DB2-BD59-A6C34878D82A}">
                    <a16:rowId xmlns:a16="http://schemas.microsoft.com/office/drawing/2014/main" val="10004"/>
                  </a:ext>
                </a:extLst>
              </a:tr>
              <a:tr h="658368">
                <a:tc>
                  <a:txBody>
                    <a:bodyPr/>
                    <a:lstStyle/>
                    <a:p>
                      <a:pPr marL="0" indent="0">
                        <a:buNone/>
                      </a:pPr>
                      <a:r>
                        <a:rPr lang="en-US" sz="1400" dirty="0">
                          <a:solidFill>
                            <a:srgbClr val="2B2B2B"/>
                          </a:solidFill>
                        </a:rPr>
                        <a:t>Casual_Share</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b="1" dirty="0">
                          <a:solidFill>
                            <a:srgbClr val="2E4057"/>
                          </a:solidFill>
                        </a:rPr>
                        <a:t>Calculated field</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tc>
                  <a:txBody>
                    <a:bodyPr/>
                    <a:lstStyle/>
                    <a:p>
                      <a:pPr marL="0" indent="0">
                        <a:buNone/>
                      </a:pPr>
                      <a:r>
                        <a:rPr lang="en-US" sz="1400" dirty="0">
                          <a:solidFill>
                            <a:srgbClr val="2B2B2B"/>
                          </a:solidFill>
                        </a:rPr>
                        <a:t>Casual rentals / total rentals</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buNone/>
                      </a:pPr>
                      <a:r>
                        <a:rPr lang="en-US" sz="1400" dirty="0">
                          <a:solidFill>
                            <a:srgbClr val="2B2B2B"/>
                          </a:solidFill>
                        </a:rPr>
                        <a:t>Record_ID</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b="1" dirty="0">
                          <a:solidFill>
                            <a:srgbClr val="2E4057"/>
                          </a:solidFill>
                        </a:rPr>
                        <a:t>TEXT, LEFT, RIGHT, LEN</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tc>
                  <a:txBody>
                    <a:bodyPr/>
                    <a:lstStyle/>
                    <a:p>
                      <a:pPr marL="0" indent="0">
                        <a:buNone/>
                      </a:pPr>
                      <a:r>
                        <a:rPr lang="en-US" sz="1400" dirty="0">
                          <a:solidFill>
                            <a:srgbClr val="2B2B2B"/>
                          </a:solidFill>
                        </a:rPr>
                        <a:t>Readable unique key per hour</a:t>
                      </a:r>
                      <a:endParaRPr lang="en-US" sz="1400" dirty="0"/>
                    </a:p>
                  </a:txBody>
                  <a:tcPr marL="109728" marR="109728" marT="0" marB="0" anchor="ctr">
                    <a:lnL w="9525" cap="flat" cmpd="sng" algn="ctr">
                      <a:solidFill>
                        <a:srgbClr val="DCDDD8"/>
                      </a:solidFill>
                      <a:prstDash val="solid"/>
                      <a:round/>
                      <a:headEnd type="none" w="med" len="med"/>
                      <a:tailEnd type="none" w="med" len="med"/>
                    </a:lnL>
                    <a:lnR w="9525" cap="flat" cmpd="sng" algn="ctr">
                      <a:solidFill>
                        <a:srgbClr val="DCDDD8"/>
                      </a:solidFill>
                      <a:prstDash val="solid"/>
                      <a:round/>
                      <a:headEnd type="none" w="med" len="med"/>
                      <a:tailEnd type="none" w="med" len="med"/>
                    </a:lnR>
                    <a:lnT w="9525" cap="flat" cmpd="sng" algn="ctr">
                      <a:solidFill>
                        <a:srgbClr val="DCDDD8"/>
                      </a:solidFill>
                      <a:prstDash val="solid"/>
                      <a:round/>
                      <a:headEnd type="none" w="med" len="med"/>
                      <a:tailEnd type="none" w="med" len="med"/>
                    </a:lnT>
                    <a:lnB w="9525" cap="flat" cmpd="sng" algn="ctr">
                      <a:solidFill>
                        <a:srgbClr val="DCDDD8"/>
                      </a:solidFill>
                      <a:prstDash val="solid"/>
                      <a:round/>
                      <a:headEnd type="none" w="med" len="med"/>
                      <a:tailEnd type="none" w="med" len="med"/>
                    </a:lnB>
                    <a:solidFill>
                      <a:srgbClr val="F5F5F2"/>
                    </a:solidFill>
                  </a:tcPr>
                </a:tc>
                <a:extLst>
                  <a:ext uri="{0D108BD9-81ED-4DB2-BD59-A6C34878D82A}">
                    <a16:rowId xmlns:a16="http://schemas.microsoft.com/office/drawing/2014/main" val="10006"/>
                  </a:ext>
                </a:extLst>
              </a:tr>
            </a:tbl>
          </a:graphicData>
        </a:graphic>
      </p:graphicFrame>
      <p:sp>
        <p:nvSpPr>
          <p:cNvPr id="4" name="Analysis functions card"/>
          <p:cNvSpPr/>
          <p:nvPr/>
        </p:nvSpPr>
        <p:spPr>
          <a:xfrm>
            <a:off x="8686800" y="1417320"/>
            <a:ext cx="2956255" cy="4608576"/>
          </a:xfrm>
          <a:prstGeom prst="roundRect">
            <a:avLst>
              <a:gd name="adj" fmla="val 185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5" name="Text 2"/>
          <p:cNvSpPr txBox="1"/>
          <p:nvPr/>
        </p:nvSpPr>
        <p:spPr>
          <a:xfrm>
            <a:off x="8961120" y="1600200"/>
            <a:ext cx="2407615" cy="365760"/>
          </a:xfrm>
          <a:prstGeom prst="rect">
            <a:avLst/>
          </a:prstGeom>
          <a:noFill/>
          <a:ln/>
        </p:spPr>
        <p:txBody>
          <a:bodyPr wrap="square" lIns="0" tIns="0" rIns="0" bIns="0" rtlCol="0" anchor="ctr"/>
          <a:lstStyle/>
          <a:p>
            <a:pPr marL="0" indent="0" algn="l">
              <a:buNone/>
            </a:pPr>
            <a:r>
              <a:rPr lang="en-US" sz="1800" b="1" dirty="0">
                <a:solidFill>
                  <a:schemeClr val="accent1"/>
                </a:solidFill>
              </a:rPr>
              <a:t>Analysis functions</a:t>
            </a:r>
            <a:endParaRPr lang="en-US" sz="1800" dirty="0"/>
          </a:p>
        </p:txBody>
      </p:sp>
      <p:sp>
        <p:nvSpPr>
          <p:cNvPr id="6" name="Fn SUMIFS"/>
          <p:cNvSpPr/>
          <p:nvPr/>
        </p:nvSpPr>
        <p:spPr>
          <a:xfrm>
            <a:off x="8961120" y="2148840"/>
            <a:ext cx="1600200" cy="384048"/>
          </a:xfrm>
          <a:prstGeom prst="roundRect">
            <a:avLst>
              <a:gd name="adj" fmla="val 14286"/>
            </a:avLst>
          </a:prstGeom>
          <a:solidFill>
            <a:schemeClr val="accent1"/>
          </a:solidFill>
          <a:ln/>
        </p:spPr>
        <p:txBody>
          <a:bodyPr/>
          <a:lstStyle/>
          <a:p>
            <a:endParaRPr lang="en-US"/>
          </a:p>
        </p:txBody>
      </p:sp>
      <p:sp>
        <p:nvSpPr>
          <p:cNvPr id="3" name="Text 4"/>
          <p:cNvSpPr txBox="1"/>
          <p:nvPr/>
        </p:nvSpPr>
        <p:spPr>
          <a:xfrm>
            <a:off x="8961120" y="2148840"/>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rPr>
              <a:t>SUMIFS</a:t>
            </a:r>
            <a:endParaRPr lang="en-US" sz="1400" dirty="0"/>
          </a:p>
        </p:txBody>
      </p:sp>
      <p:sp>
        <p:nvSpPr>
          <p:cNvPr id="8" name="Text 5"/>
          <p:cNvSpPr txBox="1"/>
          <p:nvPr/>
        </p:nvSpPr>
        <p:spPr>
          <a:xfrm>
            <a:off x="8961120" y="2551176"/>
            <a:ext cx="2407615" cy="274320"/>
          </a:xfrm>
          <a:prstGeom prst="rect">
            <a:avLst/>
          </a:prstGeom>
          <a:noFill/>
          <a:ln/>
        </p:spPr>
        <p:txBody>
          <a:bodyPr wrap="square" lIns="0" tIns="0" rIns="0" bIns="0" rtlCol="0" anchor="t"/>
          <a:lstStyle/>
          <a:p>
            <a:pPr marL="0" indent="0" algn="l">
              <a:buNone/>
            </a:pPr>
            <a:r>
              <a:rPr lang="en-US" sz="1400" dirty="0">
                <a:solidFill>
                  <a:schemeClr val="accent5"/>
                </a:solidFill>
              </a:rPr>
              <a:t>totals by group</a:t>
            </a:r>
            <a:endParaRPr lang="en-US" sz="1400" dirty="0"/>
          </a:p>
        </p:txBody>
      </p:sp>
      <p:sp>
        <p:nvSpPr>
          <p:cNvPr id="9" name="Fn AVERAGEIFS"/>
          <p:cNvSpPr/>
          <p:nvPr/>
        </p:nvSpPr>
        <p:spPr>
          <a:xfrm>
            <a:off x="8961120" y="2898648"/>
            <a:ext cx="1600200" cy="384048"/>
          </a:xfrm>
          <a:prstGeom prst="roundRect">
            <a:avLst>
              <a:gd name="adj" fmla="val 14286"/>
            </a:avLst>
          </a:prstGeom>
          <a:solidFill>
            <a:schemeClr val="accent1"/>
          </a:solidFill>
          <a:ln/>
        </p:spPr>
        <p:txBody>
          <a:bodyPr/>
          <a:lstStyle/>
          <a:p>
            <a:endParaRPr lang="en-US"/>
          </a:p>
        </p:txBody>
      </p:sp>
      <p:sp>
        <p:nvSpPr>
          <p:cNvPr id="10" name="Text 7"/>
          <p:cNvSpPr txBox="1"/>
          <p:nvPr/>
        </p:nvSpPr>
        <p:spPr>
          <a:xfrm>
            <a:off x="8961120" y="2898648"/>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rPr>
              <a:t>AVERAGEIFS</a:t>
            </a:r>
            <a:endParaRPr lang="en-US" sz="1400" dirty="0"/>
          </a:p>
        </p:txBody>
      </p:sp>
      <p:sp>
        <p:nvSpPr>
          <p:cNvPr id="11" name="Text 8"/>
          <p:cNvSpPr txBox="1"/>
          <p:nvPr/>
        </p:nvSpPr>
        <p:spPr>
          <a:xfrm>
            <a:off x="8961120" y="3300984"/>
            <a:ext cx="2407615" cy="274320"/>
          </a:xfrm>
          <a:prstGeom prst="rect">
            <a:avLst/>
          </a:prstGeom>
          <a:noFill/>
          <a:ln/>
        </p:spPr>
        <p:txBody>
          <a:bodyPr wrap="square" lIns="0" tIns="0" rIns="0" bIns="0" rtlCol="0" anchor="t"/>
          <a:lstStyle/>
          <a:p>
            <a:pPr marL="0" indent="0" algn="l">
              <a:buNone/>
            </a:pPr>
            <a:r>
              <a:rPr lang="en-US" sz="1400" dirty="0">
                <a:solidFill>
                  <a:schemeClr val="accent5"/>
                </a:solidFill>
              </a:rPr>
              <a:t>average per hour by group</a:t>
            </a:r>
            <a:endParaRPr lang="en-US" sz="1400" dirty="0"/>
          </a:p>
        </p:txBody>
      </p:sp>
      <p:sp>
        <p:nvSpPr>
          <p:cNvPr id="12" name="Fn COUNTIF"/>
          <p:cNvSpPr/>
          <p:nvPr/>
        </p:nvSpPr>
        <p:spPr>
          <a:xfrm>
            <a:off x="8961120" y="3648456"/>
            <a:ext cx="1600200" cy="384048"/>
          </a:xfrm>
          <a:prstGeom prst="roundRect">
            <a:avLst>
              <a:gd name="adj" fmla="val 14286"/>
            </a:avLst>
          </a:prstGeom>
          <a:solidFill>
            <a:schemeClr val="accent1"/>
          </a:solidFill>
          <a:ln/>
        </p:spPr>
        <p:txBody>
          <a:bodyPr/>
          <a:lstStyle/>
          <a:p>
            <a:endParaRPr lang="en-US"/>
          </a:p>
        </p:txBody>
      </p:sp>
      <p:sp>
        <p:nvSpPr>
          <p:cNvPr id="13" name="Text 10"/>
          <p:cNvSpPr txBox="1"/>
          <p:nvPr/>
        </p:nvSpPr>
        <p:spPr>
          <a:xfrm>
            <a:off x="8961120" y="3648456"/>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rPr>
              <a:t>COUNTIF</a:t>
            </a:r>
            <a:endParaRPr lang="en-US" sz="1400" dirty="0"/>
          </a:p>
        </p:txBody>
      </p:sp>
      <p:sp>
        <p:nvSpPr>
          <p:cNvPr id="14" name="Text 11"/>
          <p:cNvSpPr txBox="1"/>
          <p:nvPr/>
        </p:nvSpPr>
        <p:spPr>
          <a:xfrm>
            <a:off x="8961120" y="4050792"/>
            <a:ext cx="2407615" cy="274320"/>
          </a:xfrm>
          <a:prstGeom prst="rect">
            <a:avLst/>
          </a:prstGeom>
          <a:noFill/>
          <a:ln/>
        </p:spPr>
        <p:txBody>
          <a:bodyPr wrap="square" lIns="0" tIns="0" rIns="0" bIns="0" rtlCol="0" anchor="t"/>
          <a:lstStyle/>
          <a:p>
            <a:pPr marL="0" indent="0" algn="l">
              <a:buNone/>
            </a:pPr>
            <a:r>
              <a:rPr lang="en-US" sz="1400" dirty="0">
                <a:solidFill>
                  <a:schemeClr val="accent5"/>
                </a:solidFill>
              </a:rPr>
              <a:t>hours per category</a:t>
            </a:r>
            <a:endParaRPr lang="en-US" sz="1400" dirty="0"/>
          </a:p>
        </p:txBody>
      </p:sp>
      <p:sp>
        <p:nvSpPr>
          <p:cNvPr id="15" name="Fn CORREL"/>
          <p:cNvSpPr/>
          <p:nvPr/>
        </p:nvSpPr>
        <p:spPr>
          <a:xfrm>
            <a:off x="8961120" y="4398264"/>
            <a:ext cx="1600200" cy="384048"/>
          </a:xfrm>
          <a:prstGeom prst="roundRect">
            <a:avLst>
              <a:gd name="adj" fmla="val 14286"/>
            </a:avLst>
          </a:prstGeom>
          <a:solidFill>
            <a:schemeClr val="accent1"/>
          </a:solidFill>
          <a:ln/>
        </p:spPr>
        <p:txBody>
          <a:bodyPr/>
          <a:lstStyle/>
          <a:p>
            <a:endParaRPr lang="en-US"/>
          </a:p>
        </p:txBody>
      </p:sp>
      <p:sp>
        <p:nvSpPr>
          <p:cNvPr id="16" name="Text 13"/>
          <p:cNvSpPr txBox="1"/>
          <p:nvPr/>
        </p:nvSpPr>
        <p:spPr>
          <a:xfrm>
            <a:off x="8961120" y="4398264"/>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rPr>
              <a:t>CORREL</a:t>
            </a:r>
            <a:endParaRPr lang="en-US" sz="1400" dirty="0"/>
          </a:p>
        </p:txBody>
      </p:sp>
      <p:sp>
        <p:nvSpPr>
          <p:cNvPr id="17" name="Text 14"/>
          <p:cNvSpPr txBox="1"/>
          <p:nvPr/>
        </p:nvSpPr>
        <p:spPr>
          <a:xfrm>
            <a:off x="8961120" y="4800600"/>
            <a:ext cx="2407615" cy="274320"/>
          </a:xfrm>
          <a:prstGeom prst="rect">
            <a:avLst/>
          </a:prstGeom>
          <a:noFill/>
          <a:ln/>
        </p:spPr>
        <p:txBody>
          <a:bodyPr wrap="square" lIns="0" tIns="0" rIns="0" bIns="0" rtlCol="0" anchor="t"/>
          <a:lstStyle/>
          <a:p>
            <a:pPr marL="0" indent="0" algn="l">
              <a:buNone/>
            </a:pPr>
            <a:r>
              <a:rPr lang="en-US" sz="1400" dirty="0">
                <a:solidFill>
                  <a:schemeClr val="accent5"/>
                </a:solidFill>
              </a:rPr>
              <a:t>strength of links</a:t>
            </a:r>
            <a:endParaRPr lang="en-US" sz="1400" dirty="0"/>
          </a:p>
        </p:txBody>
      </p:sp>
      <p:sp>
        <p:nvSpPr>
          <p:cNvPr id="18" name="Fn STDEV"/>
          <p:cNvSpPr/>
          <p:nvPr/>
        </p:nvSpPr>
        <p:spPr>
          <a:xfrm>
            <a:off x="8961120" y="5148072"/>
            <a:ext cx="1600200" cy="384048"/>
          </a:xfrm>
          <a:prstGeom prst="roundRect">
            <a:avLst>
              <a:gd name="adj" fmla="val 14286"/>
            </a:avLst>
          </a:prstGeom>
          <a:solidFill>
            <a:schemeClr val="accent1"/>
          </a:solidFill>
          <a:ln/>
        </p:spPr>
        <p:txBody>
          <a:bodyPr/>
          <a:lstStyle/>
          <a:p>
            <a:endParaRPr lang="en-US"/>
          </a:p>
        </p:txBody>
      </p:sp>
      <p:sp>
        <p:nvSpPr>
          <p:cNvPr id="19" name="Text 16"/>
          <p:cNvSpPr txBox="1"/>
          <p:nvPr/>
        </p:nvSpPr>
        <p:spPr>
          <a:xfrm>
            <a:off x="8961120" y="5148072"/>
            <a:ext cx="1600200" cy="384048"/>
          </a:xfrm>
          <a:prstGeom prst="rect">
            <a:avLst/>
          </a:prstGeom>
          <a:noFill/>
          <a:ln/>
        </p:spPr>
        <p:txBody>
          <a:bodyPr wrap="square" lIns="0" tIns="0" rIns="0" bIns="0" rtlCol="0" anchor="ctr"/>
          <a:lstStyle/>
          <a:p>
            <a:pPr marL="0" indent="0" algn="ctr">
              <a:buNone/>
            </a:pPr>
            <a:r>
              <a:rPr lang="en-US" sz="1400" b="1" dirty="0">
                <a:solidFill>
                  <a:schemeClr val="bg1"/>
                </a:solidFill>
              </a:rPr>
              <a:t>STDEV</a:t>
            </a:r>
            <a:endParaRPr lang="en-US" sz="1400" dirty="0"/>
          </a:p>
        </p:txBody>
      </p:sp>
      <p:sp>
        <p:nvSpPr>
          <p:cNvPr id="20" name="Text 17"/>
          <p:cNvSpPr txBox="1"/>
          <p:nvPr/>
        </p:nvSpPr>
        <p:spPr>
          <a:xfrm>
            <a:off x="8961120" y="5550408"/>
            <a:ext cx="2407615" cy="274320"/>
          </a:xfrm>
          <a:prstGeom prst="rect">
            <a:avLst/>
          </a:prstGeom>
          <a:noFill/>
          <a:ln/>
        </p:spPr>
        <p:txBody>
          <a:bodyPr wrap="square" lIns="0" tIns="0" rIns="0" bIns="0" rtlCol="0" anchor="t"/>
          <a:lstStyle/>
          <a:p>
            <a:pPr marL="0" indent="0" algn="l">
              <a:buNone/>
            </a:pPr>
            <a:r>
              <a:rPr lang="en-US" sz="1400" dirty="0">
                <a:solidFill>
                  <a:schemeClr val="accent5"/>
                </a:solidFill>
              </a:rPr>
              <a:t>spread, z-scores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Commuters drive demand: 92% of rentals are by registered riders</a:t>
            </a:r>
            <a:endParaRPr lang="en-US" sz="2600" dirty="0"/>
          </a:p>
        </p:txBody>
      </p:sp>
      <p:sp>
        <p:nvSpPr>
          <p:cNvPr id="3" name="KPI Total rentals"/>
          <p:cNvSpPr/>
          <p:nvPr/>
        </p:nvSpPr>
        <p:spPr>
          <a:xfrm>
            <a:off x="548640" y="1417320"/>
            <a:ext cx="1999427" cy="2011680"/>
          </a:xfrm>
          <a:prstGeom prst="roundRect">
            <a:avLst>
              <a:gd name="adj" fmla="val 274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KPI icon 1 circle"/>
          <p:cNvSpPr/>
          <p:nvPr/>
        </p:nvSpPr>
        <p:spPr>
          <a:xfrm>
            <a:off x="777240" y="1618488"/>
            <a:ext cx="502920" cy="502920"/>
          </a:xfrm>
          <a:prstGeom prst="ellipse">
            <a:avLst/>
          </a:prstGeom>
          <a:solidFill>
            <a:schemeClr val="accent2"/>
          </a:solidFill>
          <a:ln/>
        </p:spPr>
        <p:txBody>
          <a:bodyPr/>
          <a:lstStyle/>
          <a:p>
            <a:endParaRPr lang="en-US"/>
          </a:p>
        </p:txBody>
      </p:sp>
      <p:pic>
        <p:nvPicPr>
          <p:cNvPr id="5" name="KPI icon 1 icon" descr="preencoded.png"/>
          <p:cNvPicPr>
            <a:picLocks noChangeAspect="1"/>
          </p:cNvPicPr>
          <p:nvPr/>
        </p:nvPicPr>
        <p:blipFill>
          <a:blip r:embed="rId3"/>
          <a:stretch>
            <a:fillRect/>
          </a:stretch>
        </p:blipFill>
        <p:spPr>
          <a:xfrm>
            <a:off x="902970" y="1744218"/>
            <a:ext cx="251460" cy="251460"/>
          </a:xfrm>
          <a:prstGeom prst="rect">
            <a:avLst/>
          </a:prstGeom>
        </p:spPr>
      </p:pic>
      <p:sp>
        <p:nvSpPr>
          <p:cNvPr id="6" name="Text 3"/>
          <p:cNvSpPr txBox="1"/>
          <p:nvPr/>
        </p:nvSpPr>
        <p:spPr>
          <a:xfrm>
            <a:off x="777240" y="2221992"/>
            <a:ext cx="1633667" cy="502920"/>
          </a:xfrm>
          <a:prstGeom prst="rect">
            <a:avLst/>
          </a:prstGeom>
          <a:noFill/>
          <a:ln/>
        </p:spPr>
        <p:txBody>
          <a:bodyPr wrap="square" lIns="0" tIns="0" rIns="0" bIns="0" rtlCol="0" anchor="ctr"/>
          <a:lstStyle/>
          <a:p>
            <a:pPr marL="0" indent="0" algn="l">
              <a:buNone/>
            </a:pPr>
            <a:r>
              <a:rPr lang="en-US" sz="3000" b="1" dirty="0">
                <a:solidFill>
                  <a:schemeClr val="accent1"/>
                </a:solidFill>
              </a:rPr>
              <a:t>58,304</a:t>
            </a:r>
            <a:endParaRPr lang="en-US" sz="3000" dirty="0"/>
          </a:p>
        </p:txBody>
      </p:sp>
      <p:sp>
        <p:nvSpPr>
          <p:cNvPr id="7" name="Text 4"/>
          <p:cNvSpPr txBox="1"/>
          <p:nvPr/>
        </p:nvSpPr>
        <p:spPr>
          <a:xfrm>
            <a:off x="777240" y="2743200"/>
            <a:ext cx="1633667" cy="274320"/>
          </a:xfrm>
          <a:prstGeom prst="rect">
            <a:avLst/>
          </a:prstGeom>
          <a:noFill/>
          <a:ln/>
        </p:spPr>
        <p:txBody>
          <a:bodyPr wrap="square" lIns="0" tIns="0" rIns="0" bIns="0" rtlCol="0" anchor="t"/>
          <a:lstStyle/>
          <a:p>
            <a:pPr marL="0" indent="0" algn="l">
              <a:buNone/>
            </a:pPr>
            <a:r>
              <a:rPr lang="en-US" sz="1600" b="1" dirty="0">
                <a:solidFill>
                  <a:schemeClr val="tx1"/>
                </a:solidFill>
              </a:rPr>
              <a:t>Total rentals</a:t>
            </a:r>
            <a:endParaRPr lang="en-US" sz="1600" dirty="0"/>
          </a:p>
        </p:txBody>
      </p:sp>
      <p:sp>
        <p:nvSpPr>
          <p:cNvPr id="8" name="Text 5"/>
          <p:cNvSpPr txBox="1"/>
          <p:nvPr/>
        </p:nvSpPr>
        <p:spPr>
          <a:xfrm>
            <a:off x="777240" y="3044952"/>
            <a:ext cx="1633667" cy="256032"/>
          </a:xfrm>
          <a:prstGeom prst="rect">
            <a:avLst/>
          </a:prstGeom>
          <a:noFill/>
          <a:ln/>
        </p:spPr>
        <p:txBody>
          <a:bodyPr wrap="square" lIns="0" tIns="0" rIns="0" bIns="0" rtlCol="0" anchor="t"/>
          <a:lstStyle/>
          <a:p>
            <a:pPr marL="0" indent="0" algn="l">
              <a:buNone/>
            </a:pPr>
            <a:r>
              <a:rPr lang="en-US" sz="1400" dirty="0">
                <a:solidFill>
                  <a:schemeClr val="accent5"/>
                </a:solidFill>
              </a:rPr>
              <a:t>1,000 hours</a:t>
            </a:r>
            <a:endParaRPr lang="en-US" sz="1400" dirty="0"/>
          </a:p>
        </p:txBody>
      </p:sp>
      <p:sp>
        <p:nvSpPr>
          <p:cNvPr id="9" name="KPI Registered"/>
          <p:cNvSpPr/>
          <p:nvPr/>
        </p:nvSpPr>
        <p:spPr>
          <a:xfrm>
            <a:off x="2822387" y="1417320"/>
            <a:ext cx="1999427" cy="2011680"/>
          </a:xfrm>
          <a:prstGeom prst="roundRect">
            <a:avLst>
              <a:gd name="adj" fmla="val 274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0" name="KPI icon 2 circle"/>
          <p:cNvSpPr/>
          <p:nvPr/>
        </p:nvSpPr>
        <p:spPr>
          <a:xfrm>
            <a:off x="3050987" y="1618488"/>
            <a:ext cx="502920" cy="502920"/>
          </a:xfrm>
          <a:prstGeom prst="ellipse">
            <a:avLst/>
          </a:prstGeom>
          <a:solidFill>
            <a:schemeClr val="accent2"/>
          </a:solidFill>
          <a:ln/>
        </p:spPr>
        <p:txBody>
          <a:bodyPr/>
          <a:lstStyle/>
          <a:p>
            <a:endParaRPr lang="en-US"/>
          </a:p>
        </p:txBody>
      </p:sp>
      <p:pic>
        <p:nvPicPr>
          <p:cNvPr id="11" name="KPI icon 2 icon" descr="preencoded.png"/>
          <p:cNvPicPr>
            <a:picLocks noChangeAspect="1"/>
          </p:cNvPicPr>
          <p:nvPr/>
        </p:nvPicPr>
        <p:blipFill>
          <a:blip r:embed="rId4"/>
          <a:stretch>
            <a:fillRect/>
          </a:stretch>
        </p:blipFill>
        <p:spPr>
          <a:xfrm>
            <a:off x="3176717" y="1744218"/>
            <a:ext cx="251460" cy="251460"/>
          </a:xfrm>
          <a:prstGeom prst="rect">
            <a:avLst/>
          </a:prstGeom>
        </p:spPr>
      </p:pic>
      <p:sp>
        <p:nvSpPr>
          <p:cNvPr id="12" name="Text 8"/>
          <p:cNvSpPr txBox="1"/>
          <p:nvPr/>
        </p:nvSpPr>
        <p:spPr>
          <a:xfrm>
            <a:off x="3050987" y="2221992"/>
            <a:ext cx="1633667" cy="502920"/>
          </a:xfrm>
          <a:prstGeom prst="rect">
            <a:avLst/>
          </a:prstGeom>
          <a:noFill/>
          <a:ln/>
        </p:spPr>
        <p:txBody>
          <a:bodyPr wrap="square" lIns="0" tIns="0" rIns="0" bIns="0" rtlCol="0" anchor="ctr"/>
          <a:lstStyle/>
          <a:p>
            <a:pPr marL="0" indent="0" algn="l">
              <a:buNone/>
            </a:pPr>
            <a:r>
              <a:rPr lang="en-US" sz="3000" b="1" dirty="0">
                <a:solidFill>
                  <a:schemeClr val="accent1"/>
                </a:solidFill>
              </a:rPr>
              <a:t>53,383</a:t>
            </a:r>
            <a:endParaRPr lang="en-US" sz="3000" dirty="0"/>
          </a:p>
        </p:txBody>
      </p:sp>
      <p:sp>
        <p:nvSpPr>
          <p:cNvPr id="13" name="Text 9"/>
          <p:cNvSpPr txBox="1"/>
          <p:nvPr/>
        </p:nvSpPr>
        <p:spPr>
          <a:xfrm>
            <a:off x="3050987" y="2743200"/>
            <a:ext cx="1633667" cy="274320"/>
          </a:xfrm>
          <a:prstGeom prst="rect">
            <a:avLst/>
          </a:prstGeom>
          <a:noFill/>
          <a:ln/>
        </p:spPr>
        <p:txBody>
          <a:bodyPr wrap="square" lIns="0" tIns="0" rIns="0" bIns="0" rtlCol="0" anchor="t"/>
          <a:lstStyle/>
          <a:p>
            <a:pPr marL="0" indent="0" algn="l">
              <a:buNone/>
            </a:pPr>
            <a:r>
              <a:rPr lang="en-US" sz="1600" b="1" dirty="0">
                <a:solidFill>
                  <a:schemeClr val="tx1"/>
                </a:solidFill>
              </a:rPr>
              <a:t>Registered</a:t>
            </a:r>
            <a:endParaRPr lang="en-US" sz="1600" dirty="0"/>
          </a:p>
        </p:txBody>
      </p:sp>
      <p:sp>
        <p:nvSpPr>
          <p:cNvPr id="14" name="Text 10"/>
          <p:cNvSpPr txBox="1"/>
          <p:nvPr/>
        </p:nvSpPr>
        <p:spPr>
          <a:xfrm>
            <a:off x="3050987" y="3044952"/>
            <a:ext cx="1633667" cy="256032"/>
          </a:xfrm>
          <a:prstGeom prst="rect">
            <a:avLst/>
          </a:prstGeom>
          <a:noFill/>
          <a:ln/>
        </p:spPr>
        <p:txBody>
          <a:bodyPr wrap="square" lIns="0" tIns="0" rIns="0" bIns="0" rtlCol="0" anchor="t"/>
          <a:lstStyle/>
          <a:p>
            <a:pPr marL="0" indent="0" algn="l">
              <a:buNone/>
            </a:pPr>
            <a:r>
              <a:rPr lang="en-US" sz="1400" dirty="0">
                <a:solidFill>
                  <a:schemeClr val="accent5"/>
                </a:solidFill>
              </a:rPr>
              <a:t>91.6% of rentals</a:t>
            </a:r>
            <a:endParaRPr lang="en-US" sz="1400" dirty="0"/>
          </a:p>
        </p:txBody>
      </p:sp>
      <p:sp>
        <p:nvSpPr>
          <p:cNvPr id="15" name="KPI Casual"/>
          <p:cNvSpPr/>
          <p:nvPr/>
        </p:nvSpPr>
        <p:spPr>
          <a:xfrm>
            <a:off x="5096134" y="1417320"/>
            <a:ext cx="1999427" cy="2011680"/>
          </a:xfrm>
          <a:prstGeom prst="roundRect">
            <a:avLst>
              <a:gd name="adj" fmla="val 274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6" name="KPI icon 3 circle"/>
          <p:cNvSpPr/>
          <p:nvPr/>
        </p:nvSpPr>
        <p:spPr>
          <a:xfrm>
            <a:off x="5324734" y="1618488"/>
            <a:ext cx="502920" cy="502920"/>
          </a:xfrm>
          <a:prstGeom prst="ellipse">
            <a:avLst/>
          </a:prstGeom>
          <a:solidFill>
            <a:schemeClr val="accent2"/>
          </a:solidFill>
          <a:ln/>
        </p:spPr>
        <p:txBody>
          <a:bodyPr/>
          <a:lstStyle/>
          <a:p>
            <a:endParaRPr lang="en-US"/>
          </a:p>
        </p:txBody>
      </p:sp>
      <p:pic>
        <p:nvPicPr>
          <p:cNvPr id="17" name="KPI icon 3 icon" descr="preencoded.png"/>
          <p:cNvPicPr>
            <a:picLocks noChangeAspect="1"/>
          </p:cNvPicPr>
          <p:nvPr/>
        </p:nvPicPr>
        <p:blipFill>
          <a:blip r:embed="rId5"/>
          <a:stretch>
            <a:fillRect/>
          </a:stretch>
        </p:blipFill>
        <p:spPr>
          <a:xfrm>
            <a:off x="5450464" y="1744218"/>
            <a:ext cx="251460" cy="251460"/>
          </a:xfrm>
          <a:prstGeom prst="rect">
            <a:avLst/>
          </a:prstGeom>
        </p:spPr>
      </p:pic>
      <p:sp>
        <p:nvSpPr>
          <p:cNvPr id="18" name="Text 13"/>
          <p:cNvSpPr txBox="1"/>
          <p:nvPr/>
        </p:nvSpPr>
        <p:spPr>
          <a:xfrm>
            <a:off x="5324734" y="2221992"/>
            <a:ext cx="1633667" cy="502920"/>
          </a:xfrm>
          <a:prstGeom prst="rect">
            <a:avLst/>
          </a:prstGeom>
          <a:noFill/>
          <a:ln/>
        </p:spPr>
        <p:txBody>
          <a:bodyPr wrap="square" lIns="0" tIns="0" rIns="0" bIns="0" rtlCol="0" anchor="ctr"/>
          <a:lstStyle/>
          <a:p>
            <a:pPr marL="0" indent="0" algn="l">
              <a:buNone/>
            </a:pPr>
            <a:r>
              <a:rPr lang="en-US" sz="3000" b="1" dirty="0">
                <a:solidFill>
                  <a:schemeClr val="accent1"/>
                </a:solidFill>
              </a:rPr>
              <a:t>4,921</a:t>
            </a:r>
            <a:endParaRPr lang="en-US" sz="3000" dirty="0"/>
          </a:p>
        </p:txBody>
      </p:sp>
      <p:sp>
        <p:nvSpPr>
          <p:cNvPr id="19" name="Text 14"/>
          <p:cNvSpPr txBox="1"/>
          <p:nvPr/>
        </p:nvSpPr>
        <p:spPr>
          <a:xfrm>
            <a:off x="5324734" y="2743200"/>
            <a:ext cx="1633667" cy="274320"/>
          </a:xfrm>
          <a:prstGeom prst="rect">
            <a:avLst/>
          </a:prstGeom>
          <a:noFill/>
          <a:ln/>
        </p:spPr>
        <p:txBody>
          <a:bodyPr wrap="square" lIns="0" tIns="0" rIns="0" bIns="0" rtlCol="0" anchor="t"/>
          <a:lstStyle/>
          <a:p>
            <a:pPr marL="0" indent="0" algn="l">
              <a:buNone/>
            </a:pPr>
            <a:r>
              <a:rPr lang="en-US" sz="1600" b="1" dirty="0">
                <a:solidFill>
                  <a:schemeClr val="tx1"/>
                </a:solidFill>
              </a:rPr>
              <a:t>Casual</a:t>
            </a:r>
            <a:endParaRPr lang="en-US" sz="1600" dirty="0"/>
          </a:p>
        </p:txBody>
      </p:sp>
      <p:sp>
        <p:nvSpPr>
          <p:cNvPr id="20" name="Text 15"/>
          <p:cNvSpPr txBox="1"/>
          <p:nvPr/>
        </p:nvSpPr>
        <p:spPr>
          <a:xfrm>
            <a:off x="5324734" y="3044952"/>
            <a:ext cx="1633667" cy="256032"/>
          </a:xfrm>
          <a:prstGeom prst="rect">
            <a:avLst/>
          </a:prstGeom>
          <a:noFill/>
          <a:ln/>
        </p:spPr>
        <p:txBody>
          <a:bodyPr wrap="square" lIns="0" tIns="0" rIns="0" bIns="0" rtlCol="0" anchor="t"/>
          <a:lstStyle/>
          <a:p>
            <a:pPr marL="0" indent="0" algn="l">
              <a:buNone/>
            </a:pPr>
            <a:r>
              <a:rPr lang="en-US" sz="1400" dirty="0">
                <a:solidFill>
                  <a:schemeClr val="accent5"/>
                </a:solidFill>
              </a:rPr>
              <a:t>8.4% of rentals</a:t>
            </a:r>
            <a:endParaRPr lang="en-US" sz="1400" dirty="0"/>
          </a:p>
        </p:txBody>
      </p:sp>
      <p:sp>
        <p:nvSpPr>
          <p:cNvPr id="21" name="KPI Avg per hour"/>
          <p:cNvSpPr/>
          <p:nvPr/>
        </p:nvSpPr>
        <p:spPr>
          <a:xfrm>
            <a:off x="7369881" y="1417320"/>
            <a:ext cx="1999427" cy="2011680"/>
          </a:xfrm>
          <a:prstGeom prst="roundRect">
            <a:avLst>
              <a:gd name="adj" fmla="val 274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2" name="KPI icon 4 circle"/>
          <p:cNvSpPr/>
          <p:nvPr/>
        </p:nvSpPr>
        <p:spPr>
          <a:xfrm>
            <a:off x="7598481" y="1618488"/>
            <a:ext cx="502920" cy="502920"/>
          </a:xfrm>
          <a:prstGeom prst="ellipse">
            <a:avLst/>
          </a:prstGeom>
          <a:solidFill>
            <a:schemeClr val="accent2"/>
          </a:solidFill>
          <a:ln/>
        </p:spPr>
        <p:txBody>
          <a:bodyPr/>
          <a:lstStyle/>
          <a:p>
            <a:endParaRPr lang="en-US"/>
          </a:p>
        </p:txBody>
      </p:sp>
      <p:pic>
        <p:nvPicPr>
          <p:cNvPr id="23" name="KPI icon 4 icon" descr="preencoded.png"/>
          <p:cNvPicPr>
            <a:picLocks noChangeAspect="1"/>
          </p:cNvPicPr>
          <p:nvPr/>
        </p:nvPicPr>
        <p:blipFill>
          <a:blip r:embed="rId6"/>
          <a:stretch>
            <a:fillRect/>
          </a:stretch>
        </p:blipFill>
        <p:spPr>
          <a:xfrm>
            <a:off x="7724211" y="1744218"/>
            <a:ext cx="251460" cy="251460"/>
          </a:xfrm>
          <a:prstGeom prst="rect">
            <a:avLst/>
          </a:prstGeom>
        </p:spPr>
      </p:pic>
      <p:sp>
        <p:nvSpPr>
          <p:cNvPr id="24" name="Text 18"/>
          <p:cNvSpPr txBox="1"/>
          <p:nvPr/>
        </p:nvSpPr>
        <p:spPr>
          <a:xfrm>
            <a:off x="7598481" y="2221992"/>
            <a:ext cx="1633667" cy="502920"/>
          </a:xfrm>
          <a:prstGeom prst="rect">
            <a:avLst/>
          </a:prstGeom>
          <a:noFill/>
          <a:ln/>
        </p:spPr>
        <p:txBody>
          <a:bodyPr wrap="square" lIns="0" tIns="0" rIns="0" bIns="0" rtlCol="0" anchor="ctr"/>
          <a:lstStyle/>
          <a:p>
            <a:pPr marL="0" indent="0" algn="l">
              <a:buNone/>
            </a:pPr>
            <a:r>
              <a:rPr lang="en-US" sz="3000" b="1" dirty="0">
                <a:solidFill>
                  <a:schemeClr val="accent1"/>
                </a:solidFill>
              </a:rPr>
              <a:t>58.3</a:t>
            </a:r>
            <a:endParaRPr lang="en-US" sz="3000" dirty="0"/>
          </a:p>
        </p:txBody>
      </p:sp>
      <p:sp>
        <p:nvSpPr>
          <p:cNvPr id="25" name="Text 19"/>
          <p:cNvSpPr txBox="1"/>
          <p:nvPr/>
        </p:nvSpPr>
        <p:spPr>
          <a:xfrm>
            <a:off x="7598481" y="2743200"/>
            <a:ext cx="1633667" cy="274320"/>
          </a:xfrm>
          <a:prstGeom prst="rect">
            <a:avLst/>
          </a:prstGeom>
          <a:noFill/>
          <a:ln/>
        </p:spPr>
        <p:txBody>
          <a:bodyPr wrap="square" lIns="0" tIns="0" rIns="0" bIns="0" rtlCol="0" anchor="t"/>
          <a:lstStyle/>
          <a:p>
            <a:pPr marL="0" indent="0" algn="l">
              <a:buNone/>
            </a:pPr>
            <a:r>
              <a:rPr lang="en-US" sz="1600" b="1" dirty="0">
                <a:solidFill>
                  <a:schemeClr val="tx1"/>
                </a:solidFill>
              </a:rPr>
              <a:t>Avg per hour</a:t>
            </a:r>
            <a:endParaRPr lang="en-US" sz="1600" dirty="0"/>
          </a:p>
        </p:txBody>
      </p:sp>
      <p:sp>
        <p:nvSpPr>
          <p:cNvPr id="26" name="Text 20"/>
          <p:cNvSpPr txBox="1"/>
          <p:nvPr/>
        </p:nvSpPr>
        <p:spPr>
          <a:xfrm>
            <a:off x="7598481" y="3044952"/>
            <a:ext cx="1633667" cy="256032"/>
          </a:xfrm>
          <a:prstGeom prst="rect">
            <a:avLst/>
          </a:prstGeom>
          <a:noFill/>
          <a:ln/>
        </p:spPr>
        <p:txBody>
          <a:bodyPr wrap="square" lIns="0" tIns="0" rIns="0" bIns="0" rtlCol="0" anchor="t"/>
          <a:lstStyle/>
          <a:p>
            <a:pPr marL="0" indent="0" algn="l">
              <a:buNone/>
            </a:pPr>
            <a:r>
              <a:rPr lang="en-US" sz="1400" dirty="0">
                <a:solidFill>
                  <a:schemeClr val="accent5"/>
                </a:solidFill>
              </a:rPr>
              <a:t>median 49</a:t>
            </a:r>
            <a:endParaRPr lang="en-US" sz="1400" dirty="0"/>
          </a:p>
        </p:txBody>
      </p:sp>
      <p:sp>
        <p:nvSpPr>
          <p:cNvPr id="27" name="KPI Peak hour"/>
          <p:cNvSpPr/>
          <p:nvPr/>
        </p:nvSpPr>
        <p:spPr>
          <a:xfrm>
            <a:off x="9643628" y="1417320"/>
            <a:ext cx="1999427" cy="2011680"/>
          </a:xfrm>
          <a:prstGeom prst="roundRect">
            <a:avLst>
              <a:gd name="adj" fmla="val 274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8" name="KPI icon 5 circle"/>
          <p:cNvSpPr/>
          <p:nvPr/>
        </p:nvSpPr>
        <p:spPr>
          <a:xfrm>
            <a:off x="9872228" y="1618488"/>
            <a:ext cx="502920" cy="502920"/>
          </a:xfrm>
          <a:prstGeom prst="ellipse">
            <a:avLst/>
          </a:prstGeom>
          <a:solidFill>
            <a:schemeClr val="accent2"/>
          </a:solidFill>
          <a:ln/>
        </p:spPr>
        <p:txBody>
          <a:bodyPr/>
          <a:lstStyle/>
          <a:p>
            <a:endParaRPr lang="en-US"/>
          </a:p>
        </p:txBody>
      </p:sp>
      <p:pic>
        <p:nvPicPr>
          <p:cNvPr id="29" name="KPI icon 5 icon" descr="preencoded.png"/>
          <p:cNvPicPr>
            <a:picLocks noChangeAspect="1"/>
          </p:cNvPicPr>
          <p:nvPr/>
        </p:nvPicPr>
        <p:blipFill>
          <a:blip r:embed="rId7"/>
          <a:stretch>
            <a:fillRect/>
          </a:stretch>
        </p:blipFill>
        <p:spPr>
          <a:xfrm>
            <a:off x="9997958" y="1744218"/>
            <a:ext cx="251460" cy="251460"/>
          </a:xfrm>
          <a:prstGeom prst="rect">
            <a:avLst/>
          </a:prstGeom>
        </p:spPr>
      </p:pic>
      <p:sp>
        <p:nvSpPr>
          <p:cNvPr id="30" name="Text 23"/>
          <p:cNvSpPr txBox="1"/>
          <p:nvPr/>
        </p:nvSpPr>
        <p:spPr>
          <a:xfrm>
            <a:off x="9872228" y="2221992"/>
            <a:ext cx="1633667" cy="502920"/>
          </a:xfrm>
          <a:prstGeom prst="rect">
            <a:avLst/>
          </a:prstGeom>
          <a:noFill/>
          <a:ln/>
        </p:spPr>
        <p:txBody>
          <a:bodyPr wrap="square" lIns="0" tIns="0" rIns="0" bIns="0" rtlCol="0" anchor="ctr"/>
          <a:lstStyle/>
          <a:p>
            <a:pPr marL="0" indent="0" algn="l">
              <a:buNone/>
            </a:pPr>
            <a:r>
              <a:rPr lang="en-US" sz="3000" b="1" dirty="0">
                <a:solidFill>
                  <a:schemeClr val="accent1"/>
                </a:solidFill>
              </a:rPr>
              <a:t>5 PM</a:t>
            </a:r>
            <a:endParaRPr lang="en-US" sz="3000" dirty="0"/>
          </a:p>
        </p:txBody>
      </p:sp>
      <p:sp>
        <p:nvSpPr>
          <p:cNvPr id="31" name="Text 24"/>
          <p:cNvSpPr txBox="1"/>
          <p:nvPr/>
        </p:nvSpPr>
        <p:spPr>
          <a:xfrm>
            <a:off x="9872228" y="2743200"/>
            <a:ext cx="1633667" cy="274320"/>
          </a:xfrm>
          <a:prstGeom prst="rect">
            <a:avLst/>
          </a:prstGeom>
          <a:noFill/>
          <a:ln/>
        </p:spPr>
        <p:txBody>
          <a:bodyPr wrap="square" lIns="0" tIns="0" rIns="0" bIns="0" rtlCol="0" anchor="t"/>
          <a:lstStyle/>
          <a:p>
            <a:pPr marL="0" indent="0" algn="l">
              <a:buNone/>
            </a:pPr>
            <a:r>
              <a:rPr lang="en-US" sz="1600" b="1" dirty="0">
                <a:solidFill>
                  <a:schemeClr val="tx1"/>
                </a:solidFill>
              </a:rPr>
              <a:t>Peak hour</a:t>
            </a:r>
            <a:endParaRPr lang="en-US" sz="1600" dirty="0"/>
          </a:p>
        </p:txBody>
      </p:sp>
      <p:sp>
        <p:nvSpPr>
          <p:cNvPr id="32" name="Text 25"/>
          <p:cNvSpPr txBox="1"/>
          <p:nvPr/>
        </p:nvSpPr>
        <p:spPr>
          <a:xfrm>
            <a:off x="9872228" y="3044952"/>
            <a:ext cx="1633667" cy="256032"/>
          </a:xfrm>
          <a:prstGeom prst="rect">
            <a:avLst/>
          </a:prstGeom>
          <a:noFill/>
          <a:ln/>
        </p:spPr>
        <p:txBody>
          <a:bodyPr wrap="square" lIns="0" tIns="0" rIns="0" bIns="0" rtlCol="0" anchor="t"/>
          <a:lstStyle/>
          <a:p>
            <a:pPr marL="0" indent="0" algn="l">
              <a:buNone/>
            </a:pPr>
            <a:r>
              <a:rPr lang="en-US" sz="1400" dirty="0">
                <a:solidFill>
                  <a:schemeClr val="accent5"/>
                </a:solidFill>
              </a:rPr>
              <a:t>~140 rentals/hour</a:t>
            </a:r>
            <a:endParaRPr lang="en-US" sz="1400" dirty="0"/>
          </a:p>
        </p:txBody>
      </p:sp>
      <p:sp>
        <p:nvSpPr>
          <p:cNvPr id="33" name="Rider mix chart card"/>
          <p:cNvSpPr/>
          <p:nvPr/>
        </p:nvSpPr>
        <p:spPr>
          <a:xfrm>
            <a:off x="548640" y="3703320"/>
            <a:ext cx="11094415" cy="2423160"/>
          </a:xfrm>
          <a:prstGeom prst="roundRect">
            <a:avLst>
              <a:gd name="adj" fmla="val 226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34" name="Rider mix chart"/>
          <p:cNvGraphicFramePr/>
          <p:nvPr/>
        </p:nvGraphicFramePr>
        <p:xfrm>
          <a:off x="685800" y="3813048"/>
          <a:ext cx="10820095" cy="2203704"/>
        </p:xfrm>
        <a:graphic>
          <a:graphicData uri="http://schemas.openxmlformats.org/drawingml/2006/chart">
            <c:chart xmlns:c="http://schemas.openxmlformats.org/drawingml/2006/chart" xmlns:r="http://schemas.openxmlformats.org/officeDocument/2006/relationships" r:id="rId8"/>
          </a:graphicData>
        </a:graphic>
      </p:graphicFrame>
      <p:sp>
        <p:nvSpPr>
          <p:cNvPr id="3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Two commute peaks: 8 AM and 5 PM drive the day</a:t>
            </a:r>
            <a:endParaRPr lang="en-US" sz="2600" dirty="0"/>
          </a:p>
        </p:txBody>
      </p:sp>
      <p:sp>
        <p:nvSpPr>
          <p:cNvPr id="3" name="Hourly chart card"/>
          <p:cNvSpPr/>
          <p:nvPr/>
        </p:nvSpPr>
        <p:spPr>
          <a:xfrm>
            <a:off x="548640" y="1417320"/>
            <a:ext cx="11094415"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Hourly demand chart"/>
          <p:cNvGraphicFramePr/>
          <p:nvPr/>
        </p:nvGraphicFramePr>
        <p:xfrm>
          <a:off x="685800" y="1527048"/>
          <a:ext cx="10820095"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Weekends shift the mix: casual riders more than double</a:t>
            </a:r>
            <a:endParaRPr lang="en-US" sz="2600" dirty="0"/>
          </a:p>
        </p:txBody>
      </p:sp>
      <p:sp>
        <p:nvSpPr>
          <p:cNvPr id="3" name="Weekday chart card"/>
          <p:cNvSpPr/>
          <p:nvPr/>
        </p:nvSpPr>
        <p:spPr>
          <a:xfrm>
            <a:off x="548640" y="1417320"/>
            <a:ext cx="8138160"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Weekday chart"/>
          <p:cNvGraphicFramePr/>
          <p:nvPr/>
        </p:nvGraphicFramePr>
        <p:xfrm>
          <a:off x="685800" y="1527048"/>
          <a:ext cx="7863840"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5" name="Weekend callout"/>
          <p:cNvSpPr/>
          <p:nvPr/>
        </p:nvSpPr>
        <p:spPr>
          <a:xfrm>
            <a:off x="8961120" y="1417320"/>
            <a:ext cx="2681935" cy="4709160"/>
          </a:xfrm>
          <a:prstGeom prst="roundRect">
            <a:avLst>
              <a:gd name="adj" fmla="val 204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6" name="Weekend callout icon circle"/>
          <p:cNvSpPr/>
          <p:nvPr/>
        </p:nvSpPr>
        <p:spPr>
          <a:xfrm>
            <a:off x="9235440" y="2514600"/>
            <a:ext cx="640080" cy="640080"/>
          </a:xfrm>
          <a:prstGeom prst="ellipse">
            <a:avLst/>
          </a:prstGeom>
          <a:solidFill>
            <a:schemeClr val="accent2"/>
          </a:solidFill>
          <a:ln/>
        </p:spPr>
        <p:txBody>
          <a:bodyPr/>
          <a:lstStyle/>
          <a:p>
            <a:endParaRPr lang="en-US"/>
          </a:p>
        </p:txBody>
      </p:sp>
      <p:pic>
        <p:nvPicPr>
          <p:cNvPr id="7" name="Weekend callout icon icon" descr="preencoded.png"/>
          <p:cNvPicPr>
            <a:picLocks noChangeAspect="1"/>
          </p:cNvPicPr>
          <p:nvPr/>
        </p:nvPicPr>
        <p:blipFill>
          <a:blip r:embed="rId4"/>
          <a:stretch>
            <a:fillRect/>
          </a:stretch>
        </p:blipFill>
        <p:spPr>
          <a:xfrm>
            <a:off x="9395460" y="2674620"/>
            <a:ext cx="320040" cy="320040"/>
          </a:xfrm>
          <a:prstGeom prst="rect">
            <a:avLst/>
          </a:prstGeom>
        </p:spPr>
      </p:pic>
      <p:sp>
        <p:nvSpPr>
          <p:cNvPr id="8" name="Text 4"/>
          <p:cNvSpPr txBox="1"/>
          <p:nvPr/>
        </p:nvSpPr>
        <p:spPr>
          <a:xfrm>
            <a:off x="9235440" y="3291840"/>
            <a:ext cx="2133295" cy="777240"/>
          </a:xfrm>
          <a:prstGeom prst="rect">
            <a:avLst/>
          </a:prstGeom>
          <a:noFill/>
          <a:ln/>
        </p:spPr>
        <p:txBody>
          <a:bodyPr wrap="square" lIns="0" tIns="0" rIns="0" bIns="0" rtlCol="0" anchor="ctr"/>
          <a:lstStyle/>
          <a:p>
            <a:pPr marL="0" indent="0" algn="l">
              <a:buNone/>
            </a:pPr>
            <a:r>
              <a:rPr lang="en-US" sz="4000" b="1" dirty="0">
                <a:solidFill>
                  <a:schemeClr val="accent1"/>
                </a:solidFill>
              </a:rPr>
              <a:t>2.5x</a:t>
            </a:r>
            <a:endParaRPr lang="en-US" sz="4000" dirty="0"/>
          </a:p>
        </p:txBody>
      </p:sp>
      <p:sp>
        <p:nvSpPr>
          <p:cNvPr id="9" name="Text 5"/>
          <p:cNvSpPr txBox="1"/>
          <p:nvPr/>
        </p:nvSpPr>
        <p:spPr>
          <a:xfrm>
            <a:off x="9235440" y="4114800"/>
            <a:ext cx="2133295" cy="822960"/>
          </a:xfrm>
          <a:prstGeom prst="rect">
            <a:avLst/>
          </a:prstGeom>
          <a:noFill/>
          <a:ln/>
        </p:spPr>
        <p:txBody>
          <a:bodyPr wrap="square" lIns="0" tIns="0" rIns="0" bIns="0" rtlCol="0" anchor="t"/>
          <a:lstStyle/>
          <a:p>
            <a:pPr marL="0" indent="0" algn="l">
              <a:buNone/>
            </a:pPr>
            <a:r>
              <a:rPr lang="en-US" sz="1600" dirty="0">
                <a:solidFill>
                  <a:schemeClr val="accent5"/>
                </a:solidFill>
              </a:rPr>
              <a:t>casual riders per hour at weekends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Rain cuts demand: light rain hours see ~46% fewer rentals</a:t>
            </a:r>
            <a:endParaRPr lang="en-US" sz="2600" dirty="0"/>
          </a:p>
        </p:txBody>
      </p:sp>
      <p:sp>
        <p:nvSpPr>
          <p:cNvPr id="3" name="Weather chart card"/>
          <p:cNvSpPr/>
          <p:nvPr/>
        </p:nvSpPr>
        <p:spPr>
          <a:xfrm>
            <a:off x="548640" y="1417320"/>
            <a:ext cx="8138160"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Weather chart"/>
          <p:cNvGraphicFramePr/>
          <p:nvPr/>
        </p:nvGraphicFramePr>
        <p:xfrm>
          <a:off x="685800" y="1527048"/>
          <a:ext cx="7863840"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5" name="Rain callout"/>
          <p:cNvSpPr/>
          <p:nvPr/>
        </p:nvSpPr>
        <p:spPr>
          <a:xfrm>
            <a:off x="8961120" y="1417320"/>
            <a:ext cx="2681935" cy="4709160"/>
          </a:xfrm>
          <a:prstGeom prst="roundRect">
            <a:avLst>
              <a:gd name="adj" fmla="val 204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6" name="Rain callout icon circle"/>
          <p:cNvSpPr/>
          <p:nvPr/>
        </p:nvSpPr>
        <p:spPr>
          <a:xfrm>
            <a:off x="9235440" y="2514600"/>
            <a:ext cx="640080" cy="640080"/>
          </a:xfrm>
          <a:prstGeom prst="ellipse">
            <a:avLst/>
          </a:prstGeom>
          <a:solidFill>
            <a:schemeClr val="accent2"/>
          </a:solidFill>
          <a:ln/>
        </p:spPr>
        <p:txBody>
          <a:bodyPr/>
          <a:lstStyle/>
          <a:p>
            <a:endParaRPr lang="en-US"/>
          </a:p>
        </p:txBody>
      </p:sp>
      <p:pic>
        <p:nvPicPr>
          <p:cNvPr id="7" name="Rain callout icon icon" descr="preencoded.png"/>
          <p:cNvPicPr>
            <a:picLocks noChangeAspect="1"/>
          </p:cNvPicPr>
          <p:nvPr/>
        </p:nvPicPr>
        <p:blipFill>
          <a:blip r:embed="rId4"/>
          <a:stretch>
            <a:fillRect/>
          </a:stretch>
        </p:blipFill>
        <p:spPr>
          <a:xfrm>
            <a:off x="9395460" y="2674620"/>
            <a:ext cx="320040" cy="320040"/>
          </a:xfrm>
          <a:prstGeom prst="rect">
            <a:avLst/>
          </a:prstGeom>
        </p:spPr>
      </p:pic>
      <p:sp>
        <p:nvSpPr>
          <p:cNvPr id="8" name="Text 4"/>
          <p:cNvSpPr txBox="1"/>
          <p:nvPr/>
        </p:nvSpPr>
        <p:spPr>
          <a:xfrm>
            <a:off x="9235440" y="3291840"/>
            <a:ext cx="2133295" cy="777240"/>
          </a:xfrm>
          <a:prstGeom prst="rect">
            <a:avLst/>
          </a:prstGeom>
          <a:noFill/>
          <a:ln/>
        </p:spPr>
        <p:txBody>
          <a:bodyPr wrap="square" lIns="0" tIns="0" rIns="0" bIns="0" rtlCol="0" anchor="ctr"/>
          <a:lstStyle/>
          <a:p>
            <a:pPr marL="0" indent="0" algn="l">
              <a:buNone/>
            </a:pPr>
            <a:r>
              <a:rPr lang="en-US" sz="4000" b="1" dirty="0">
                <a:solidFill>
                  <a:schemeClr val="accent1"/>
                </a:solidFill>
              </a:rPr>
              <a:t>-46%</a:t>
            </a:r>
            <a:endParaRPr lang="en-US" sz="4000" dirty="0"/>
          </a:p>
        </p:txBody>
      </p:sp>
      <p:sp>
        <p:nvSpPr>
          <p:cNvPr id="9" name="Text 5"/>
          <p:cNvSpPr txBox="1"/>
          <p:nvPr/>
        </p:nvSpPr>
        <p:spPr>
          <a:xfrm>
            <a:off x="9235440" y="4114800"/>
            <a:ext cx="2133295" cy="822960"/>
          </a:xfrm>
          <a:prstGeom prst="rect">
            <a:avLst/>
          </a:prstGeom>
          <a:noFill/>
          <a:ln/>
        </p:spPr>
        <p:txBody>
          <a:bodyPr wrap="square" lIns="0" tIns="0" rIns="0" bIns="0" rtlCol="0" anchor="t"/>
          <a:lstStyle/>
          <a:p>
            <a:pPr marL="0" indent="0" algn="l">
              <a:buNone/>
            </a:pPr>
            <a:r>
              <a:rPr lang="en-US" sz="1600" dirty="0">
                <a:solidFill>
                  <a:schemeClr val="accent5"/>
                </a:solidFill>
              </a:rPr>
              <a:t>rentals per hour, light rain vs clear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Warm, dry hours see more rides, but the links are weak</a:t>
            </a:r>
            <a:endParaRPr lang="en-US" sz="2600" dirty="0"/>
          </a:p>
        </p:txBody>
      </p:sp>
      <p:sp>
        <p:nvSpPr>
          <p:cNvPr id="3" name="Temperature chart card"/>
          <p:cNvSpPr/>
          <p:nvPr/>
        </p:nvSpPr>
        <p:spPr>
          <a:xfrm>
            <a:off x="548640" y="1417320"/>
            <a:ext cx="3931920" cy="4709160"/>
          </a:xfrm>
          <a:prstGeom prst="roundRect">
            <a:avLst>
              <a:gd name="adj" fmla="val 139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Temperature chart"/>
          <p:cNvGraphicFramePr/>
          <p:nvPr/>
        </p:nvGraphicFramePr>
        <p:xfrm>
          <a:off x="685800" y="1527048"/>
          <a:ext cx="3657600"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5" name="Humidity chart card"/>
          <p:cNvSpPr/>
          <p:nvPr/>
        </p:nvSpPr>
        <p:spPr>
          <a:xfrm>
            <a:off x="4754880" y="1417320"/>
            <a:ext cx="3931920" cy="4709160"/>
          </a:xfrm>
          <a:prstGeom prst="roundRect">
            <a:avLst>
              <a:gd name="adj" fmla="val 139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6" name="Humidity chart"/>
          <p:cNvGraphicFramePr/>
          <p:nvPr/>
        </p:nvGraphicFramePr>
        <p:xfrm>
          <a:off x="4892040" y="1527048"/>
          <a:ext cx="3657600" cy="4489704"/>
        </p:xfrm>
        <a:graphic>
          <a:graphicData uri="http://schemas.openxmlformats.org/drawingml/2006/chart">
            <c:chart xmlns:c="http://schemas.openxmlformats.org/drawingml/2006/chart" xmlns:r="http://schemas.openxmlformats.org/officeDocument/2006/relationships" r:id="rId4"/>
          </a:graphicData>
        </a:graphic>
      </p:graphicFrame>
      <p:sp>
        <p:nvSpPr>
          <p:cNvPr id="7" name="Correlation callout"/>
          <p:cNvSpPr/>
          <p:nvPr/>
        </p:nvSpPr>
        <p:spPr>
          <a:xfrm>
            <a:off x="8961120" y="1417320"/>
            <a:ext cx="2681935" cy="4709160"/>
          </a:xfrm>
          <a:prstGeom prst="roundRect">
            <a:avLst>
              <a:gd name="adj" fmla="val 204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8" name="Correlation callout icon circle"/>
          <p:cNvSpPr/>
          <p:nvPr/>
        </p:nvSpPr>
        <p:spPr>
          <a:xfrm>
            <a:off x="9235440" y="2514600"/>
            <a:ext cx="640080" cy="640080"/>
          </a:xfrm>
          <a:prstGeom prst="ellipse">
            <a:avLst/>
          </a:prstGeom>
          <a:solidFill>
            <a:schemeClr val="accent2"/>
          </a:solidFill>
          <a:ln/>
        </p:spPr>
        <p:txBody>
          <a:bodyPr/>
          <a:lstStyle/>
          <a:p>
            <a:endParaRPr lang="en-US"/>
          </a:p>
        </p:txBody>
      </p:sp>
      <p:pic>
        <p:nvPicPr>
          <p:cNvPr id="9" name="Correlation callout icon icon" descr="preencoded.png"/>
          <p:cNvPicPr>
            <a:picLocks noChangeAspect="1"/>
          </p:cNvPicPr>
          <p:nvPr/>
        </p:nvPicPr>
        <p:blipFill>
          <a:blip r:embed="rId5"/>
          <a:stretch>
            <a:fillRect/>
          </a:stretch>
        </p:blipFill>
        <p:spPr>
          <a:xfrm>
            <a:off x="9395460" y="2674620"/>
            <a:ext cx="320040" cy="320040"/>
          </a:xfrm>
          <a:prstGeom prst="rect">
            <a:avLst/>
          </a:prstGeom>
        </p:spPr>
      </p:pic>
      <p:sp>
        <p:nvSpPr>
          <p:cNvPr id="10" name="Text 5"/>
          <p:cNvSpPr txBox="1"/>
          <p:nvPr/>
        </p:nvSpPr>
        <p:spPr>
          <a:xfrm>
            <a:off x="9235440" y="3291840"/>
            <a:ext cx="2133295" cy="777240"/>
          </a:xfrm>
          <a:prstGeom prst="rect">
            <a:avLst/>
          </a:prstGeom>
          <a:noFill/>
          <a:ln/>
        </p:spPr>
        <p:txBody>
          <a:bodyPr wrap="square" lIns="0" tIns="0" rIns="0" bIns="0" rtlCol="0" anchor="ctr"/>
          <a:lstStyle/>
          <a:p>
            <a:pPr marL="0" indent="0" algn="l">
              <a:buNone/>
            </a:pPr>
            <a:r>
              <a:rPr lang="en-US" sz="4000" b="1" dirty="0">
                <a:solidFill>
                  <a:schemeClr val="accent1"/>
                </a:solidFill>
              </a:rPr>
              <a:t>r = 0.23</a:t>
            </a:r>
            <a:endParaRPr lang="en-US" sz="4000" dirty="0"/>
          </a:p>
        </p:txBody>
      </p:sp>
      <p:sp>
        <p:nvSpPr>
          <p:cNvPr id="11" name="Text 6"/>
          <p:cNvSpPr txBox="1"/>
          <p:nvPr/>
        </p:nvSpPr>
        <p:spPr>
          <a:xfrm>
            <a:off x="9235440" y="4114800"/>
            <a:ext cx="2133295" cy="822960"/>
          </a:xfrm>
          <a:prstGeom prst="rect">
            <a:avLst/>
          </a:prstGeom>
          <a:noFill/>
          <a:ln/>
        </p:spPr>
        <p:txBody>
          <a:bodyPr wrap="square" lIns="0" tIns="0" rIns="0" bIns="0" rtlCol="0" anchor="t"/>
          <a:lstStyle/>
          <a:p>
            <a:pPr marL="0" indent="0" algn="l">
              <a:buNone/>
            </a:pPr>
            <a:r>
              <a:rPr lang="en-US" sz="1600" dirty="0">
                <a:solidFill>
                  <a:schemeClr val="accent5"/>
                </a:solidFill>
              </a:rPr>
              <a:t>temperature vs rentals: a weak link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43% of all rentals happen in working-day peak hours</a:t>
            </a:r>
            <a:endParaRPr lang="en-US" sz="2600" dirty="0"/>
          </a:p>
        </p:txBody>
      </p:sp>
      <p:sp>
        <p:nvSpPr>
          <p:cNvPr id="3" name="Funnel chart card"/>
          <p:cNvSpPr/>
          <p:nvPr/>
        </p:nvSpPr>
        <p:spPr>
          <a:xfrm>
            <a:off x="548640" y="1417320"/>
            <a:ext cx="8138160"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Funnel chart"/>
          <p:cNvGraphicFramePr/>
          <p:nvPr/>
        </p:nvGraphicFramePr>
        <p:xfrm>
          <a:off x="685800" y="1527048"/>
          <a:ext cx="7863840"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5" name="Funnel callout"/>
          <p:cNvSpPr/>
          <p:nvPr/>
        </p:nvSpPr>
        <p:spPr>
          <a:xfrm>
            <a:off x="8961120" y="1417320"/>
            <a:ext cx="2681935" cy="4709160"/>
          </a:xfrm>
          <a:prstGeom prst="roundRect">
            <a:avLst>
              <a:gd name="adj" fmla="val 204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6" name="Funnel callout icon circle"/>
          <p:cNvSpPr/>
          <p:nvPr/>
        </p:nvSpPr>
        <p:spPr>
          <a:xfrm>
            <a:off x="9235440" y="2514600"/>
            <a:ext cx="640080" cy="640080"/>
          </a:xfrm>
          <a:prstGeom prst="ellipse">
            <a:avLst/>
          </a:prstGeom>
          <a:solidFill>
            <a:schemeClr val="accent2"/>
          </a:solidFill>
          <a:ln/>
        </p:spPr>
        <p:txBody>
          <a:bodyPr/>
          <a:lstStyle/>
          <a:p>
            <a:endParaRPr lang="en-US"/>
          </a:p>
        </p:txBody>
      </p:sp>
      <p:pic>
        <p:nvPicPr>
          <p:cNvPr id="7" name="Funnel callout icon icon" descr="preencoded.png"/>
          <p:cNvPicPr>
            <a:picLocks noChangeAspect="1"/>
          </p:cNvPicPr>
          <p:nvPr/>
        </p:nvPicPr>
        <p:blipFill>
          <a:blip r:embed="rId4"/>
          <a:stretch>
            <a:fillRect/>
          </a:stretch>
        </p:blipFill>
        <p:spPr>
          <a:xfrm>
            <a:off x="9395460" y="2674620"/>
            <a:ext cx="320040" cy="320040"/>
          </a:xfrm>
          <a:prstGeom prst="rect">
            <a:avLst/>
          </a:prstGeom>
        </p:spPr>
      </p:pic>
      <p:sp>
        <p:nvSpPr>
          <p:cNvPr id="8" name="Text 4"/>
          <p:cNvSpPr txBox="1"/>
          <p:nvPr/>
        </p:nvSpPr>
        <p:spPr>
          <a:xfrm>
            <a:off x="9235440" y="3291840"/>
            <a:ext cx="2133295" cy="777240"/>
          </a:xfrm>
          <a:prstGeom prst="rect">
            <a:avLst/>
          </a:prstGeom>
          <a:noFill/>
          <a:ln/>
        </p:spPr>
        <p:txBody>
          <a:bodyPr wrap="square" lIns="0" tIns="0" rIns="0" bIns="0" rtlCol="0" anchor="ctr"/>
          <a:lstStyle/>
          <a:p>
            <a:pPr marL="0" indent="0" algn="l">
              <a:buNone/>
            </a:pPr>
            <a:r>
              <a:rPr lang="en-US" sz="4000" b="1" dirty="0">
                <a:solidFill>
                  <a:schemeClr val="accent1"/>
                </a:solidFill>
              </a:rPr>
              <a:t>97%</a:t>
            </a:r>
            <a:endParaRPr lang="en-US" sz="4000" dirty="0"/>
          </a:p>
        </p:txBody>
      </p:sp>
      <p:sp>
        <p:nvSpPr>
          <p:cNvPr id="9" name="Text 5"/>
          <p:cNvSpPr txBox="1"/>
          <p:nvPr/>
        </p:nvSpPr>
        <p:spPr>
          <a:xfrm>
            <a:off x="9235440" y="4114800"/>
            <a:ext cx="2133295" cy="822960"/>
          </a:xfrm>
          <a:prstGeom prst="rect">
            <a:avLst/>
          </a:prstGeom>
          <a:noFill/>
          <a:ln/>
        </p:spPr>
        <p:txBody>
          <a:bodyPr wrap="square" lIns="0" tIns="0" rIns="0" bIns="0" rtlCol="0" anchor="t"/>
          <a:lstStyle/>
          <a:p>
            <a:pPr marL="0" indent="0" algn="l">
              <a:buNone/>
            </a:pPr>
            <a:r>
              <a:rPr lang="en-US" sz="1600" dirty="0">
                <a:solidFill>
                  <a:schemeClr val="accent5"/>
                </a:solidFill>
              </a:rPr>
              <a:t>registered share of working-day peak hours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One-page Excel dashboard answers these questions interactively</a:t>
            </a:r>
            <a:endParaRPr lang="en-US" sz="2600" dirty="0"/>
          </a:p>
        </p:txBody>
      </p:sp>
      <p:sp>
        <p:nvSpPr>
          <p:cNvPr id="3" name="Dashboard frame"/>
          <p:cNvSpPr/>
          <p:nvPr/>
        </p:nvSpPr>
        <p:spPr>
          <a:xfrm>
            <a:off x="548640" y="1417320"/>
            <a:ext cx="7863840" cy="4704459"/>
          </a:xfrm>
          <a:prstGeom prst="roundRect">
            <a:avLst>
              <a:gd name="adj" fmla="val 116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pic>
        <p:nvPicPr>
          <p:cNvPr id="4" name="Dashboard image" descr="Excel dashboard: KPI cards, hourly, weekday, daily and weather charts, heatmap, commute funnel"/>
          <p:cNvPicPr>
            <a:picLocks noChangeAspect="1"/>
          </p:cNvPicPr>
          <p:nvPr/>
        </p:nvPicPr>
        <p:blipFill>
          <a:blip r:embed="rId3"/>
          <a:stretch>
            <a:fillRect/>
          </a:stretch>
        </p:blipFill>
        <p:spPr>
          <a:xfrm>
            <a:off x="640080" y="1508760"/>
            <a:ext cx="7680960" cy="4521579"/>
          </a:xfrm>
          <a:prstGeom prst="rect">
            <a:avLst/>
          </a:prstGeom>
        </p:spPr>
      </p:pic>
      <p:sp>
        <p:nvSpPr>
          <p:cNvPr id="5" name="Dash feature 1 circle"/>
          <p:cNvSpPr/>
          <p:nvPr/>
        </p:nvSpPr>
        <p:spPr>
          <a:xfrm>
            <a:off x="8686800" y="1417320"/>
            <a:ext cx="548640" cy="548640"/>
          </a:xfrm>
          <a:prstGeom prst="ellipse">
            <a:avLst/>
          </a:prstGeom>
          <a:solidFill>
            <a:schemeClr val="accent2"/>
          </a:solidFill>
          <a:ln/>
        </p:spPr>
        <p:txBody>
          <a:bodyPr/>
          <a:lstStyle/>
          <a:p>
            <a:endParaRPr lang="en-US"/>
          </a:p>
        </p:txBody>
      </p:sp>
      <p:pic>
        <p:nvPicPr>
          <p:cNvPr id="6" name="Dash feature 1 icon" descr="preencoded.png"/>
          <p:cNvPicPr>
            <a:picLocks noChangeAspect="1"/>
          </p:cNvPicPr>
          <p:nvPr/>
        </p:nvPicPr>
        <p:blipFill>
          <a:blip r:embed="rId4"/>
          <a:stretch>
            <a:fillRect/>
          </a:stretch>
        </p:blipFill>
        <p:spPr>
          <a:xfrm>
            <a:off x="8823960" y="1554480"/>
            <a:ext cx="274320" cy="274320"/>
          </a:xfrm>
          <a:prstGeom prst="rect">
            <a:avLst/>
          </a:prstGeom>
        </p:spPr>
      </p:pic>
      <p:sp>
        <p:nvSpPr>
          <p:cNvPr id="7" name="Text 3"/>
          <p:cNvSpPr txBox="1"/>
          <p:nvPr/>
        </p:nvSpPr>
        <p:spPr>
          <a:xfrm>
            <a:off x="9418320" y="1508760"/>
            <a:ext cx="2224735" cy="365760"/>
          </a:xfrm>
          <a:prstGeom prst="rect">
            <a:avLst/>
          </a:prstGeom>
          <a:noFill/>
          <a:ln/>
        </p:spPr>
        <p:txBody>
          <a:bodyPr wrap="square" lIns="0" tIns="0" rIns="0" bIns="0" rtlCol="0" anchor="ctr"/>
          <a:lstStyle/>
          <a:p>
            <a:pPr marL="0" indent="0" algn="l">
              <a:buNone/>
            </a:pPr>
            <a:r>
              <a:rPr lang="en-US" sz="1800" b="1" dirty="0">
                <a:solidFill>
                  <a:schemeClr val="accent1"/>
                </a:solidFill>
              </a:rPr>
              <a:t>6 filters</a:t>
            </a:r>
            <a:endParaRPr lang="en-US" sz="1800" dirty="0"/>
          </a:p>
        </p:txBody>
      </p:sp>
      <p:sp>
        <p:nvSpPr>
          <p:cNvPr id="8" name="Text 4"/>
          <p:cNvSpPr txBox="1"/>
          <p:nvPr/>
        </p:nvSpPr>
        <p:spPr>
          <a:xfrm>
            <a:off x="9418320" y="1892808"/>
            <a:ext cx="2224735" cy="548640"/>
          </a:xfrm>
          <a:prstGeom prst="rect">
            <a:avLst/>
          </a:prstGeom>
          <a:noFill/>
          <a:ln/>
        </p:spPr>
        <p:txBody>
          <a:bodyPr wrap="square" lIns="0" tIns="0" rIns="0" bIns="0" rtlCol="0" anchor="t"/>
          <a:lstStyle/>
          <a:p>
            <a:pPr marL="0" indent="0" algn="l">
              <a:buNone/>
            </a:pPr>
            <a:r>
              <a:rPr lang="en-US" sz="1600" dirty="0">
                <a:solidFill>
                  <a:schemeClr val="accent5"/>
                </a:solidFill>
              </a:rPr>
              <a:t>Day type, weather, month, time, dates</a:t>
            </a:r>
            <a:endParaRPr lang="en-US" sz="1600" dirty="0"/>
          </a:p>
        </p:txBody>
      </p:sp>
      <p:sp>
        <p:nvSpPr>
          <p:cNvPr id="9" name="Dash feature 2 circle"/>
          <p:cNvSpPr/>
          <p:nvPr/>
        </p:nvSpPr>
        <p:spPr>
          <a:xfrm>
            <a:off x="8686800" y="2624328"/>
            <a:ext cx="548640" cy="548640"/>
          </a:xfrm>
          <a:prstGeom prst="ellipse">
            <a:avLst/>
          </a:prstGeom>
          <a:solidFill>
            <a:schemeClr val="accent2"/>
          </a:solidFill>
          <a:ln/>
        </p:spPr>
        <p:txBody>
          <a:bodyPr/>
          <a:lstStyle/>
          <a:p>
            <a:endParaRPr lang="en-US"/>
          </a:p>
        </p:txBody>
      </p:sp>
      <p:pic>
        <p:nvPicPr>
          <p:cNvPr id="10" name="Dash feature 2 icon" descr="preencoded.png"/>
          <p:cNvPicPr>
            <a:picLocks noChangeAspect="1"/>
          </p:cNvPicPr>
          <p:nvPr/>
        </p:nvPicPr>
        <p:blipFill>
          <a:blip r:embed="rId5"/>
          <a:stretch>
            <a:fillRect/>
          </a:stretch>
        </p:blipFill>
        <p:spPr>
          <a:xfrm>
            <a:off x="8823960" y="2761488"/>
            <a:ext cx="274320" cy="274320"/>
          </a:xfrm>
          <a:prstGeom prst="rect">
            <a:avLst/>
          </a:prstGeom>
        </p:spPr>
      </p:pic>
      <p:sp>
        <p:nvSpPr>
          <p:cNvPr id="11" name="Text 6"/>
          <p:cNvSpPr txBox="1"/>
          <p:nvPr/>
        </p:nvSpPr>
        <p:spPr>
          <a:xfrm>
            <a:off x="9418320" y="2715768"/>
            <a:ext cx="2224735" cy="365760"/>
          </a:xfrm>
          <a:prstGeom prst="rect">
            <a:avLst/>
          </a:prstGeom>
          <a:noFill/>
          <a:ln/>
        </p:spPr>
        <p:txBody>
          <a:bodyPr wrap="square" lIns="0" tIns="0" rIns="0" bIns="0" rtlCol="0" anchor="ctr"/>
          <a:lstStyle/>
          <a:p>
            <a:pPr marL="0" indent="0" algn="l">
              <a:buNone/>
            </a:pPr>
            <a:r>
              <a:rPr lang="en-US" sz="1800" b="1" dirty="0">
                <a:solidFill>
                  <a:schemeClr val="accent1"/>
                </a:solidFill>
              </a:rPr>
              <a:t>8 KPI cards</a:t>
            </a:r>
            <a:endParaRPr lang="en-US" sz="1800" dirty="0"/>
          </a:p>
        </p:txBody>
      </p:sp>
      <p:sp>
        <p:nvSpPr>
          <p:cNvPr id="12" name="Text 7"/>
          <p:cNvSpPr txBox="1"/>
          <p:nvPr/>
        </p:nvSpPr>
        <p:spPr>
          <a:xfrm>
            <a:off x="9418320" y="3099816"/>
            <a:ext cx="2224735" cy="548640"/>
          </a:xfrm>
          <a:prstGeom prst="rect">
            <a:avLst/>
          </a:prstGeom>
          <a:noFill/>
          <a:ln/>
        </p:spPr>
        <p:txBody>
          <a:bodyPr wrap="square" lIns="0" tIns="0" rIns="0" bIns="0" rtlCol="0" anchor="t"/>
          <a:lstStyle/>
          <a:p>
            <a:pPr marL="0" indent="0" algn="l">
              <a:buNone/>
            </a:pPr>
            <a:r>
              <a:rPr lang="en-US" sz="1600" dirty="0">
                <a:solidFill>
                  <a:schemeClr val="accent5"/>
                </a:solidFill>
              </a:rPr>
              <a:t>Totals, mix, peak, rain, anomalies</a:t>
            </a:r>
            <a:endParaRPr lang="en-US" sz="1600" dirty="0"/>
          </a:p>
        </p:txBody>
      </p:sp>
      <p:sp>
        <p:nvSpPr>
          <p:cNvPr id="13" name="Dash feature 3 circle"/>
          <p:cNvSpPr/>
          <p:nvPr/>
        </p:nvSpPr>
        <p:spPr>
          <a:xfrm>
            <a:off x="8686800" y="3831336"/>
            <a:ext cx="548640" cy="548640"/>
          </a:xfrm>
          <a:prstGeom prst="ellipse">
            <a:avLst/>
          </a:prstGeom>
          <a:solidFill>
            <a:schemeClr val="accent2"/>
          </a:solidFill>
          <a:ln/>
        </p:spPr>
        <p:txBody>
          <a:bodyPr/>
          <a:lstStyle/>
          <a:p>
            <a:endParaRPr lang="en-US"/>
          </a:p>
        </p:txBody>
      </p:sp>
      <p:pic>
        <p:nvPicPr>
          <p:cNvPr id="14" name="Dash feature 3 icon" descr="preencoded.png"/>
          <p:cNvPicPr>
            <a:picLocks noChangeAspect="1"/>
          </p:cNvPicPr>
          <p:nvPr/>
        </p:nvPicPr>
        <p:blipFill>
          <a:blip r:embed="rId6"/>
          <a:stretch>
            <a:fillRect/>
          </a:stretch>
        </p:blipFill>
        <p:spPr>
          <a:xfrm>
            <a:off x="8823960" y="3968496"/>
            <a:ext cx="274320" cy="274320"/>
          </a:xfrm>
          <a:prstGeom prst="rect">
            <a:avLst/>
          </a:prstGeom>
        </p:spPr>
      </p:pic>
      <p:sp>
        <p:nvSpPr>
          <p:cNvPr id="15" name="Text 9"/>
          <p:cNvSpPr txBox="1"/>
          <p:nvPr/>
        </p:nvSpPr>
        <p:spPr>
          <a:xfrm>
            <a:off x="9418320" y="3922776"/>
            <a:ext cx="2224735" cy="365760"/>
          </a:xfrm>
          <a:prstGeom prst="rect">
            <a:avLst/>
          </a:prstGeom>
          <a:noFill/>
          <a:ln/>
        </p:spPr>
        <p:txBody>
          <a:bodyPr wrap="square" lIns="0" tIns="0" rIns="0" bIns="0" rtlCol="0" anchor="ctr"/>
          <a:lstStyle/>
          <a:p>
            <a:pPr marL="0" indent="0" algn="l">
              <a:buNone/>
            </a:pPr>
            <a:r>
              <a:rPr lang="en-US" sz="1800" b="1" dirty="0">
                <a:solidFill>
                  <a:schemeClr val="accent1"/>
                </a:solidFill>
              </a:rPr>
              <a:t>Charts and heatmap</a:t>
            </a:r>
            <a:endParaRPr lang="en-US" sz="1800" dirty="0"/>
          </a:p>
        </p:txBody>
      </p:sp>
      <p:sp>
        <p:nvSpPr>
          <p:cNvPr id="16" name="Text 10"/>
          <p:cNvSpPr txBox="1"/>
          <p:nvPr/>
        </p:nvSpPr>
        <p:spPr>
          <a:xfrm>
            <a:off x="9418320" y="4306824"/>
            <a:ext cx="2224735" cy="548640"/>
          </a:xfrm>
          <a:prstGeom prst="rect">
            <a:avLst/>
          </a:prstGeom>
          <a:noFill/>
          <a:ln/>
        </p:spPr>
        <p:txBody>
          <a:bodyPr wrap="square" lIns="0" tIns="0" rIns="0" bIns="0" rtlCol="0" anchor="t"/>
          <a:lstStyle/>
          <a:p>
            <a:pPr marL="0" indent="0" algn="l">
              <a:buNone/>
            </a:pPr>
            <a:r>
              <a:rPr lang="en-US" sz="1600" dirty="0">
                <a:solidFill>
                  <a:schemeClr val="accent5"/>
                </a:solidFill>
              </a:rPr>
              <a:t>Day-by-hour busy slots at a glance</a:t>
            </a:r>
            <a:endParaRPr lang="en-US" sz="1600" dirty="0"/>
          </a:p>
        </p:txBody>
      </p:sp>
      <p:sp>
        <p:nvSpPr>
          <p:cNvPr id="17" name="Dash feature 4 circle"/>
          <p:cNvSpPr/>
          <p:nvPr/>
        </p:nvSpPr>
        <p:spPr>
          <a:xfrm>
            <a:off x="8686800" y="5038344"/>
            <a:ext cx="548640" cy="548640"/>
          </a:xfrm>
          <a:prstGeom prst="ellipse">
            <a:avLst/>
          </a:prstGeom>
          <a:solidFill>
            <a:schemeClr val="accent2"/>
          </a:solidFill>
          <a:ln/>
        </p:spPr>
        <p:txBody>
          <a:bodyPr/>
          <a:lstStyle/>
          <a:p>
            <a:endParaRPr lang="en-US"/>
          </a:p>
        </p:txBody>
      </p:sp>
      <p:pic>
        <p:nvPicPr>
          <p:cNvPr id="18" name="Dash feature 4 icon" descr="preencoded.png"/>
          <p:cNvPicPr>
            <a:picLocks noChangeAspect="1"/>
          </p:cNvPicPr>
          <p:nvPr/>
        </p:nvPicPr>
        <p:blipFill>
          <a:blip r:embed="rId7"/>
          <a:stretch>
            <a:fillRect/>
          </a:stretch>
        </p:blipFill>
        <p:spPr>
          <a:xfrm>
            <a:off x="8823960" y="5175504"/>
            <a:ext cx="274320" cy="274320"/>
          </a:xfrm>
          <a:prstGeom prst="rect">
            <a:avLst/>
          </a:prstGeom>
        </p:spPr>
      </p:pic>
      <p:sp>
        <p:nvSpPr>
          <p:cNvPr id="19" name="Text 12"/>
          <p:cNvSpPr txBox="1"/>
          <p:nvPr/>
        </p:nvSpPr>
        <p:spPr>
          <a:xfrm>
            <a:off x="9418320" y="5129784"/>
            <a:ext cx="2224735" cy="365760"/>
          </a:xfrm>
          <a:prstGeom prst="rect">
            <a:avLst/>
          </a:prstGeom>
          <a:noFill/>
          <a:ln/>
        </p:spPr>
        <p:txBody>
          <a:bodyPr wrap="square" lIns="0" tIns="0" rIns="0" bIns="0" rtlCol="0" anchor="ctr"/>
          <a:lstStyle/>
          <a:p>
            <a:pPr marL="0" indent="0" algn="l">
              <a:buNone/>
            </a:pPr>
            <a:r>
              <a:rPr lang="en-US" sz="1800" b="1" dirty="0">
                <a:solidFill>
                  <a:schemeClr val="accent1"/>
                </a:solidFill>
              </a:rPr>
              <a:t>Commute funnel</a:t>
            </a:r>
            <a:endParaRPr lang="en-US" sz="1800" dirty="0"/>
          </a:p>
        </p:txBody>
      </p:sp>
      <p:sp>
        <p:nvSpPr>
          <p:cNvPr id="20" name="Text 13"/>
          <p:cNvSpPr txBox="1"/>
          <p:nvPr/>
        </p:nvSpPr>
        <p:spPr>
          <a:xfrm>
            <a:off x="9418320" y="5513832"/>
            <a:ext cx="2224735" cy="548640"/>
          </a:xfrm>
          <a:prstGeom prst="rect">
            <a:avLst/>
          </a:prstGeom>
          <a:noFill/>
          <a:ln/>
        </p:spPr>
        <p:txBody>
          <a:bodyPr wrap="square" lIns="0" tIns="0" rIns="0" bIns="0" rtlCol="0" anchor="t"/>
          <a:lstStyle/>
          <a:p>
            <a:pPr marL="0" indent="0" algn="l">
              <a:buNone/>
            </a:pPr>
            <a:r>
              <a:rPr lang="en-US" sz="1600" dirty="0">
                <a:solidFill>
                  <a:schemeClr val="accent5"/>
                </a:solidFill>
              </a:rPr>
              <a:t>All rentals to working-day peak hours</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Demand is predictable: few outliers and a usable forecast</a:t>
            </a:r>
            <a:endParaRPr lang="en-US" sz="2600" dirty="0"/>
          </a:p>
        </p:txBody>
      </p:sp>
      <p:sp>
        <p:nvSpPr>
          <p:cNvPr id="3" name="Daily chart card"/>
          <p:cNvSpPr/>
          <p:nvPr/>
        </p:nvSpPr>
        <p:spPr>
          <a:xfrm>
            <a:off x="548640" y="1417320"/>
            <a:ext cx="8138160" cy="4709160"/>
          </a:xfrm>
          <a:prstGeom prst="roundRect">
            <a:avLst>
              <a:gd name="adj" fmla="val 116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graphicFrame>
        <p:nvGraphicFramePr>
          <p:cNvPr id="4" name="Daily trend chart"/>
          <p:cNvGraphicFramePr/>
          <p:nvPr/>
        </p:nvGraphicFramePr>
        <p:xfrm>
          <a:off x="685800" y="1527048"/>
          <a:ext cx="7863840" cy="4489704"/>
        </p:xfrm>
        <a:graphic>
          <a:graphicData uri="http://schemas.openxmlformats.org/drawingml/2006/chart">
            <c:chart xmlns:c="http://schemas.openxmlformats.org/drawingml/2006/chart" xmlns:r="http://schemas.openxmlformats.org/officeDocument/2006/relationships" r:id="rId3"/>
          </a:graphicData>
        </a:graphic>
      </p:graphicFrame>
      <p:sp>
        <p:nvSpPr>
          <p:cNvPr id="5" name="Forecast callout"/>
          <p:cNvSpPr/>
          <p:nvPr/>
        </p:nvSpPr>
        <p:spPr>
          <a:xfrm>
            <a:off x="8961120" y="1417320"/>
            <a:ext cx="2681935" cy="4709160"/>
          </a:xfrm>
          <a:prstGeom prst="roundRect">
            <a:avLst>
              <a:gd name="adj" fmla="val 2046"/>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6" name="Forecast callout icon circle"/>
          <p:cNvSpPr/>
          <p:nvPr/>
        </p:nvSpPr>
        <p:spPr>
          <a:xfrm>
            <a:off x="9235440" y="2514600"/>
            <a:ext cx="640080" cy="640080"/>
          </a:xfrm>
          <a:prstGeom prst="ellipse">
            <a:avLst/>
          </a:prstGeom>
          <a:solidFill>
            <a:schemeClr val="accent2"/>
          </a:solidFill>
          <a:ln/>
        </p:spPr>
        <p:txBody>
          <a:bodyPr/>
          <a:lstStyle/>
          <a:p>
            <a:endParaRPr lang="en-US"/>
          </a:p>
        </p:txBody>
      </p:sp>
      <p:pic>
        <p:nvPicPr>
          <p:cNvPr id="7" name="Forecast callout icon icon" descr="preencoded.png"/>
          <p:cNvPicPr>
            <a:picLocks noChangeAspect="1"/>
          </p:cNvPicPr>
          <p:nvPr/>
        </p:nvPicPr>
        <p:blipFill>
          <a:blip r:embed="rId4"/>
          <a:stretch>
            <a:fillRect/>
          </a:stretch>
        </p:blipFill>
        <p:spPr>
          <a:xfrm>
            <a:off x="9395460" y="2674620"/>
            <a:ext cx="320040" cy="320040"/>
          </a:xfrm>
          <a:prstGeom prst="rect">
            <a:avLst/>
          </a:prstGeom>
        </p:spPr>
      </p:pic>
      <p:sp>
        <p:nvSpPr>
          <p:cNvPr id="8" name="Text 4"/>
          <p:cNvSpPr txBox="1"/>
          <p:nvPr/>
        </p:nvSpPr>
        <p:spPr>
          <a:xfrm>
            <a:off x="9235440" y="3291840"/>
            <a:ext cx="2133295" cy="777240"/>
          </a:xfrm>
          <a:prstGeom prst="rect">
            <a:avLst/>
          </a:prstGeom>
          <a:noFill/>
          <a:ln/>
        </p:spPr>
        <p:txBody>
          <a:bodyPr wrap="square" lIns="0" tIns="0" rIns="0" bIns="0" rtlCol="0" anchor="ctr"/>
          <a:lstStyle/>
          <a:p>
            <a:pPr marL="0" indent="0" algn="l">
              <a:buNone/>
            </a:pPr>
            <a:r>
              <a:rPr lang="en-US" sz="4000" b="1" dirty="0">
                <a:solidFill>
                  <a:schemeClr val="accent1"/>
                </a:solidFill>
              </a:rPr>
              <a:t>MAE 21</a:t>
            </a:r>
            <a:endParaRPr lang="en-US" sz="4000" dirty="0"/>
          </a:p>
        </p:txBody>
      </p:sp>
      <p:sp>
        <p:nvSpPr>
          <p:cNvPr id="9" name="Text 5"/>
          <p:cNvSpPr txBox="1"/>
          <p:nvPr/>
        </p:nvSpPr>
        <p:spPr>
          <a:xfrm>
            <a:off x="9235440" y="4114800"/>
            <a:ext cx="2133295" cy="822960"/>
          </a:xfrm>
          <a:prstGeom prst="rect">
            <a:avLst/>
          </a:prstGeom>
          <a:noFill/>
          <a:ln/>
        </p:spPr>
        <p:txBody>
          <a:bodyPr wrap="square" lIns="0" tIns="0" rIns="0" bIns="0" rtlCol="0" anchor="t"/>
          <a:lstStyle/>
          <a:p>
            <a:pPr marL="0" indent="0" algn="l">
              <a:buNone/>
            </a:pPr>
            <a:r>
              <a:rPr lang="en-US" sz="1600" dirty="0">
                <a:solidFill>
                  <a:schemeClr val="accent5"/>
                </a:solidFill>
              </a:rPr>
              <a:t>rentals per hour forecast error</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Six actions to match bikes and staff to demand</a:t>
            </a:r>
            <a:endParaRPr lang="en-US" sz="2600" dirty="0"/>
          </a:p>
        </p:txBody>
      </p:sp>
      <p:sp>
        <p:nvSpPr>
          <p:cNvPr id="3" name="Rec card 1"/>
          <p:cNvSpPr/>
          <p:nvPr/>
        </p:nvSpPr>
        <p:spPr>
          <a:xfrm>
            <a:off x="548640"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Rec icon 1 circle"/>
          <p:cNvSpPr/>
          <p:nvPr/>
        </p:nvSpPr>
        <p:spPr>
          <a:xfrm>
            <a:off x="822960" y="1691640"/>
            <a:ext cx="640080" cy="640080"/>
          </a:xfrm>
          <a:prstGeom prst="ellipse">
            <a:avLst/>
          </a:prstGeom>
          <a:solidFill>
            <a:schemeClr val="accent2"/>
          </a:solidFill>
          <a:ln/>
        </p:spPr>
        <p:txBody>
          <a:bodyPr/>
          <a:lstStyle/>
          <a:p>
            <a:endParaRPr lang="en-US"/>
          </a:p>
        </p:txBody>
      </p:sp>
      <p:pic>
        <p:nvPicPr>
          <p:cNvPr id="5" name="Rec icon 1 icon" descr="preencoded.png"/>
          <p:cNvPicPr>
            <a:picLocks noChangeAspect="1"/>
          </p:cNvPicPr>
          <p:nvPr/>
        </p:nvPicPr>
        <p:blipFill>
          <a:blip r:embed="rId3"/>
          <a:stretch>
            <a:fillRect/>
          </a:stretch>
        </p:blipFill>
        <p:spPr>
          <a:xfrm>
            <a:off x="982980" y="1851660"/>
            <a:ext cx="320040" cy="320040"/>
          </a:xfrm>
          <a:prstGeom prst="rect">
            <a:avLst/>
          </a:prstGeom>
        </p:spPr>
      </p:pic>
      <p:sp>
        <p:nvSpPr>
          <p:cNvPr id="6" name="Text 3"/>
          <p:cNvSpPr txBox="1"/>
          <p:nvPr/>
        </p:nvSpPr>
        <p:spPr>
          <a:xfrm>
            <a:off x="822960"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Stock before the peaks</a:t>
            </a:r>
            <a:endParaRPr lang="en-US" sz="1800" dirty="0"/>
          </a:p>
        </p:txBody>
      </p:sp>
      <p:sp>
        <p:nvSpPr>
          <p:cNvPr id="7" name="Text 4"/>
          <p:cNvSpPr txBox="1"/>
          <p:nvPr/>
        </p:nvSpPr>
        <p:spPr>
          <a:xfrm>
            <a:off x="822960"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Fill office and transit stations before 8 AM and 5 PM</a:t>
            </a:r>
            <a:endParaRPr lang="en-US" sz="1600" dirty="0"/>
          </a:p>
        </p:txBody>
      </p:sp>
      <p:sp>
        <p:nvSpPr>
          <p:cNvPr id="8" name="Rec card 2"/>
          <p:cNvSpPr/>
          <p:nvPr/>
        </p:nvSpPr>
        <p:spPr>
          <a:xfrm>
            <a:off x="4338218"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9" name="Rec icon 2 circle"/>
          <p:cNvSpPr/>
          <p:nvPr/>
        </p:nvSpPr>
        <p:spPr>
          <a:xfrm>
            <a:off x="4612538" y="1691640"/>
            <a:ext cx="640080" cy="640080"/>
          </a:xfrm>
          <a:prstGeom prst="ellipse">
            <a:avLst/>
          </a:prstGeom>
          <a:solidFill>
            <a:schemeClr val="accent2"/>
          </a:solidFill>
          <a:ln/>
        </p:spPr>
        <p:txBody>
          <a:bodyPr/>
          <a:lstStyle/>
          <a:p>
            <a:endParaRPr lang="en-US"/>
          </a:p>
        </p:txBody>
      </p:sp>
      <p:pic>
        <p:nvPicPr>
          <p:cNvPr id="10" name="Rec icon 2 icon" descr="preencoded.png"/>
          <p:cNvPicPr>
            <a:picLocks noChangeAspect="1"/>
          </p:cNvPicPr>
          <p:nvPr/>
        </p:nvPicPr>
        <p:blipFill>
          <a:blip r:embed="rId4"/>
          <a:stretch>
            <a:fillRect/>
          </a:stretch>
        </p:blipFill>
        <p:spPr>
          <a:xfrm>
            <a:off x="4772558" y="1851660"/>
            <a:ext cx="320040" cy="320040"/>
          </a:xfrm>
          <a:prstGeom prst="rect">
            <a:avLst/>
          </a:prstGeom>
        </p:spPr>
      </p:pic>
      <p:sp>
        <p:nvSpPr>
          <p:cNvPr id="11" name="Text 7"/>
          <p:cNvSpPr txBox="1"/>
          <p:nvPr/>
        </p:nvSpPr>
        <p:spPr>
          <a:xfrm>
            <a:off x="4612538"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Use the night window</a:t>
            </a:r>
            <a:endParaRPr lang="en-US" sz="1800" dirty="0"/>
          </a:p>
        </p:txBody>
      </p:sp>
      <p:sp>
        <p:nvSpPr>
          <p:cNvPr id="12" name="Text 8"/>
          <p:cNvSpPr txBox="1"/>
          <p:nvPr/>
        </p:nvSpPr>
        <p:spPr>
          <a:xfrm>
            <a:off x="4612538"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Rebalance and repair bikes between midnight and 5 AM</a:t>
            </a:r>
            <a:endParaRPr lang="en-US" sz="1600" dirty="0"/>
          </a:p>
        </p:txBody>
      </p:sp>
      <p:sp>
        <p:nvSpPr>
          <p:cNvPr id="13" name="Rec card 3"/>
          <p:cNvSpPr/>
          <p:nvPr/>
        </p:nvSpPr>
        <p:spPr>
          <a:xfrm>
            <a:off x="8127797" y="141732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4" name="Rec icon 3 circle"/>
          <p:cNvSpPr/>
          <p:nvPr/>
        </p:nvSpPr>
        <p:spPr>
          <a:xfrm>
            <a:off x="8402117" y="1691640"/>
            <a:ext cx="640080" cy="640080"/>
          </a:xfrm>
          <a:prstGeom prst="ellipse">
            <a:avLst/>
          </a:prstGeom>
          <a:solidFill>
            <a:schemeClr val="accent2"/>
          </a:solidFill>
          <a:ln/>
        </p:spPr>
        <p:txBody>
          <a:bodyPr/>
          <a:lstStyle/>
          <a:p>
            <a:endParaRPr lang="en-US"/>
          </a:p>
        </p:txBody>
      </p:sp>
      <p:pic>
        <p:nvPicPr>
          <p:cNvPr id="15" name="Rec icon 3 icon" descr="preencoded.png"/>
          <p:cNvPicPr>
            <a:picLocks noChangeAspect="1"/>
          </p:cNvPicPr>
          <p:nvPr/>
        </p:nvPicPr>
        <p:blipFill>
          <a:blip r:embed="rId5"/>
          <a:stretch>
            <a:fillRect/>
          </a:stretch>
        </p:blipFill>
        <p:spPr>
          <a:xfrm>
            <a:off x="8562137" y="1851660"/>
            <a:ext cx="320040" cy="320040"/>
          </a:xfrm>
          <a:prstGeom prst="rect">
            <a:avLst/>
          </a:prstGeom>
        </p:spPr>
      </p:pic>
      <p:sp>
        <p:nvSpPr>
          <p:cNvPr id="16" name="Text 11"/>
          <p:cNvSpPr txBox="1"/>
          <p:nvPr/>
        </p:nvSpPr>
        <p:spPr>
          <a:xfrm>
            <a:off x="8402117" y="246888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Win weekend riders</a:t>
            </a:r>
            <a:endParaRPr lang="en-US" sz="1800" dirty="0"/>
          </a:p>
        </p:txBody>
      </p:sp>
      <p:sp>
        <p:nvSpPr>
          <p:cNvPr id="17" name="Text 12"/>
          <p:cNvSpPr txBox="1"/>
          <p:nvPr/>
        </p:nvSpPr>
        <p:spPr>
          <a:xfrm>
            <a:off x="8402117" y="288036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Leisure offers and day passes for casual users</a:t>
            </a:r>
            <a:endParaRPr lang="en-US" sz="1600" dirty="0"/>
          </a:p>
        </p:txBody>
      </p:sp>
      <p:sp>
        <p:nvSpPr>
          <p:cNvPr id="18" name="Rec card 4"/>
          <p:cNvSpPr/>
          <p:nvPr/>
        </p:nvSpPr>
        <p:spPr>
          <a:xfrm>
            <a:off x="548640"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9" name="Rec icon 4 circle"/>
          <p:cNvSpPr/>
          <p:nvPr/>
        </p:nvSpPr>
        <p:spPr>
          <a:xfrm>
            <a:off x="822960" y="4183380"/>
            <a:ext cx="640080" cy="640080"/>
          </a:xfrm>
          <a:prstGeom prst="ellipse">
            <a:avLst/>
          </a:prstGeom>
          <a:solidFill>
            <a:schemeClr val="accent2"/>
          </a:solidFill>
          <a:ln/>
        </p:spPr>
        <p:txBody>
          <a:bodyPr/>
          <a:lstStyle/>
          <a:p>
            <a:endParaRPr lang="en-US"/>
          </a:p>
        </p:txBody>
      </p:sp>
      <p:pic>
        <p:nvPicPr>
          <p:cNvPr id="20" name="Rec icon 4 icon" descr="preencoded.png"/>
          <p:cNvPicPr>
            <a:picLocks noChangeAspect="1"/>
          </p:cNvPicPr>
          <p:nvPr/>
        </p:nvPicPr>
        <p:blipFill>
          <a:blip r:embed="rId6"/>
          <a:stretch>
            <a:fillRect/>
          </a:stretch>
        </p:blipFill>
        <p:spPr>
          <a:xfrm>
            <a:off x="982980" y="4343400"/>
            <a:ext cx="320040" cy="320040"/>
          </a:xfrm>
          <a:prstGeom prst="rect">
            <a:avLst/>
          </a:prstGeom>
        </p:spPr>
      </p:pic>
      <p:sp>
        <p:nvSpPr>
          <p:cNvPr id="21" name="Text 15"/>
          <p:cNvSpPr txBox="1"/>
          <p:nvPr/>
        </p:nvSpPr>
        <p:spPr>
          <a:xfrm>
            <a:off x="822960"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Plan for rain</a:t>
            </a:r>
            <a:endParaRPr lang="en-US" sz="1800" dirty="0"/>
          </a:p>
        </p:txBody>
      </p:sp>
      <p:sp>
        <p:nvSpPr>
          <p:cNvPr id="22" name="Text 16"/>
          <p:cNvSpPr txBox="1"/>
          <p:nvPr/>
        </p:nvSpPr>
        <p:spPr>
          <a:xfrm>
            <a:off x="822960"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Expect ~46% fewer rides; shift crews to maintenance</a:t>
            </a:r>
            <a:endParaRPr lang="en-US" sz="1600" dirty="0"/>
          </a:p>
        </p:txBody>
      </p:sp>
      <p:sp>
        <p:nvSpPr>
          <p:cNvPr id="23" name="Rec card 5"/>
          <p:cNvSpPr/>
          <p:nvPr/>
        </p:nvSpPr>
        <p:spPr>
          <a:xfrm>
            <a:off x="4338218"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4" name="Rec icon 5 circle"/>
          <p:cNvSpPr/>
          <p:nvPr/>
        </p:nvSpPr>
        <p:spPr>
          <a:xfrm>
            <a:off x="4612538" y="4183380"/>
            <a:ext cx="640080" cy="640080"/>
          </a:xfrm>
          <a:prstGeom prst="ellipse">
            <a:avLst/>
          </a:prstGeom>
          <a:solidFill>
            <a:schemeClr val="accent2"/>
          </a:solidFill>
          <a:ln/>
        </p:spPr>
        <p:txBody>
          <a:bodyPr/>
          <a:lstStyle/>
          <a:p>
            <a:endParaRPr lang="en-US"/>
          </a:p>
        </p:txBody>
      </p:sp>
      <p:pic>
        <p:nvPicPr>
          <p:cNvPr id="25" name="Rec icon 5 icon" descr="preencoded.png"/>
          <p:cNvPicPr>
            <a:picLocks noChangeAspect="1"/>
          </p:cNvPicPr>
          <p:nvPr/>
        </p:nvPicPr>
        <p:blipFill>
          <a:blip r:embed="rId7"/>
          <a:stretch>
            <a:fillRect/>
          </a:stretch>
        </p:blipFill>
        <p:spPr>
          <a:xfrm>
            <a:off x="4772558" y="4343400"/>
            <a:ext cx="320040" cy="320040"/>
          </a:xfrm>
          <a:prstGeom prst="rect">
            <a:avLst/>
          </a:prstGeom>
        </p:spPr>
      </p:pic>
      <p:sp>
        <p:nvSpPr>
          <p:cNvPr id="26" name="Text 19"/>
          <p:cNvSpPr txBox="1"/>
          <p:nvPr/>
        </p:nvSpPr>
        <p:spPr>
          <a:xfrm>
            <a:off x="4612538"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Staff to the forecast</a:t>
            </a:r>
            <a:endParaRPr lang="en-US" sz="1800" dirty="0"/>
          </a:p>
        </p:txBody>
      </p:sp>
      <p:sp>
        <p:nvSpPr>
          <p:cNvPr id="27" name="Text 20"/>
          <p:cNvSpPr txBox="1"/>
          <p:nvPr/>
        </p:nvSpPr>
        <p:spPr>
          <a:xfrm>
            <a:off x="4612538"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Use the 24-hour forecast to plan shifts</a:t>
            </a:r>
            <a:endParaRPr lang="en-US" sz="1600" dirty="0"/>
          </a:p>
        </p:txBody>
      </p:sp>
      <p:sp>
        <p:nvSpPr>
          <p:cNvPr id="28" name="Rec card 6"/>
          <p:cNvSpPr/>
          <p:nvPr/>
        </p:nvSpPr>
        <p:spPr>
          <a:xfrm>
            <a:off x="8127797" y="3909060"/>
            <a:ext cx="3515258" cy="2217420"/>
          </a:xfrm>
          <a:prstGeom prst="roundRect">
            <a:avLst>
              <a:gd name="adj" fmla="val 2474"/>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29" name="Rec icon 6 circle"/>
          <p:cNvSpPr/>
          <p:nvPr/>
        </p:nvSpPr>
        <p:spPr>
          <a:xfrm>
            <a:off x="8402117" y="4183380"/>
            <a:ext cx="640080" cy="640080"/>
          </a:xfrm>
          <a:prstGeom prst="ellipse">
            <a:avLst/>
          </a:prstGeom>
          <a:solidFill>
            <a:schemeClr val="accent2"/>
          </a:solidFill>
          <a:ln/>
        </p:spPr>
        <p:txBody>
          <a:bodyPr/>
          <a:lstStyle/>
          <a:p>
            <a:endParaRPr lang="en-US"/>
          </a:p>
        </p:txBody>
      </p:sp>
      <p:pic>
        <p:nvPicPr>
          <p:cNvPr id="30" name="Rec icon 6 icon" descr="preencoded.png"/>
          <p:cNvPicPr>
            <a:picLocks noChangeAspect="1"/>
          </p:cNvPicPr>
          <p:nvPr/>
        </p:nvPicPr>
        <p:blipFill>
          <a:blip r:embed="rId8"/>
          <a:stretch>
            <a:fillRect/>
          </a:stretch>
        </p:blipFill>
        <p:spPr>
          <a:xfrm>
            <a:off x="8562137" y="4343400"/>
            <a:ext cx="320040" cy="320040"/>
          </a:xfrm>
          <a:prstGeom prst="rect">
            <a:avLst/>
          </a:prstGeom>
        </p:spPr>
      </p:pic>
      <p:sp>
        <p:nvSpPr>
          <p:cNvPr id="31" name="Text 23"/>
          <p:cNvSpPr txBox="1"/>
          <p:nvPr/>
        </p:nvSpPr>
        <p:spPr>
          <a:xfrm>
            <a:off x="8402117" y="4960620"/>
            <a:ext cx="2966618" cy="365760"/>
          </a:xfrm>
          <a:prstGeom prst="rect">
            <a:avLst/>
          </a:prstGeom>
          <a:noFill/>
          <a:ln/>
        </p:spPr>
        <p:txBody>
          <a:bodyPr wrap="square" lIns="0" tIns="0" rIns="0" bIns="0" rtlCol="0" anchor="ctr"/>
          <a:lstStyle/>
          <a:p>
            <a:pPr marL="0" indent="0" algn="l">
              <a:buNone/>
            </a:pPr>
            <a:r>
              <a:rPr lang="en-US" sz="1800" b="1" dirty="0">
                <a:solidFill>
                  <a:schemeClr val="accent1"/>
                </a:solidFill>
              </a:rPr>
              <a:t>Collect a full year</a:t>
            </a:r>
            <a:endParaRPr lang="en-US" sz="1800" dirty="0"/>
          </a:p>
        </p:txBody>
      </p:sp>
      <p:sp>
        <p:nvSpPr>
          <p:cNvPr id="32" name="Text 24"/>
          <p:cNvSpPr txBox="1"/>
          <p:nvPr/>
        </p:nvSpPr>
        <p:spPr>
          <a:xfrm>
            <a:off x="8402117" y="5372100"/>
            <a:ext cx="2966618" cy="594360"/>
          </a:xfrm>
          <a:prstGeom prst="rect">
            <a:avLst/>
          </a:prstGeom>
          <a:noFill/>
          <a:ln/>
        </p:spPr>
        <p:txBody>
          <a:bodyPr wrap="square" lIns="0" tIns="0" rIns="0" bIns="0" rtlCol="0" anchor="t"/>
          <a:lstStyle/>
          <a:p>
            <a:pPr marL="0" indent="0" algn="l">
              <a:buNone/>
            </a:pPr>
            <a:r>
              <a:rPr lang="en-US" sz="1600" dirty="0">
                <a:solidFill>
                  <a:schemeClr val="accent5"/>
                </a:solidFill>
              </a:rPr>
              <a:t>Add spring and summer data to confirm patterns</a:t>
            </a:r>
            <a:endParaRPr lang="en-US" sz="1600" dirty="0"/>
          </a:p>
        </p:txBody>
      </p:sp>
      <p:sp>
        <p:nvSpPr>
          <p:cNvPr id="33"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11480"/>
            <a:ext cx="11094415" cy="731520"/>
          </a:xfrm>
          <a:prstGeom prst="rect">
            <a:avLst/>
          </a:prstGeom>
          <a:noFill/>
          <a:ln/>
        </p:spPr>
        <p:txBody>
          <a:bodyPr wrap="square" lIns="0" tIns="0" rIns="0" bIns="0" rtlCol="0" anchor="ctr"/>
          <a:lstStyle/>
          <a:p>
            <a:pPr marL="0" indent="0" algn="l">
              <a:buNone/>
            </a:pPr>
            <a:r>
              <a:rPr lang="en-US" sz="2600" b="1" dirty="0">
                <a:solidFill>
                  <a:schemeClr val="accent1"/>
                </a:solidFill>
                <a:latin typeface="Arial" pitchFamily="34" charset="0"/>
                <a:ea typeface="Arial" pitchFamily="34" charset="-122"/>
                <a:cs typeface="Arial" pitchFamily="34" charset="-120"/>
              </a:rPr>
              <a:t>Conclusion: commute, calendar and weather drive demand</a:t>
            </a:r>
            <a:endParaRPr lang="en-US" sz="2600" dirty="0"/>
          </a:p>
        </p:txBody>
      </p:sp>
      <p:sp>
        <p:nvSpPr>
          <p:cNvPr id="3" name="Takeaways card"/>
          <p:cNvSpPr/>
          <p:nvPr/>
        </p:nvSpPr>
        <p:spPr>
          <a:xfrm>
            <a:off x="548640" y="1417320"/>
            <a:ext cx="5410048" cy="2926080"/>
          </a:xfrm>
          <a:prstGeom prst="roundRect">
            <a:avLst>
              <a:gd name="adj" fmla="val 187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4" name="Text 2"/>
          <p:cNvSpPr txBox="1"/>
          <p:nvPr/>
        </p:nvSpPr>
        <p:spPr>
          <a:xfrm>
            <a:off x="822960" y="1691640"/>
            <a:ext cx="4861408" cy="365760"/>
          </a:xfrm>
          <a:prstGeom prst="rect">
            <a:avLst/>
          </a:prstGeom>
          <a:noFill/>
          <a:ln/>
        </p:spPr>
        <p:txBody>
          <a:bodyPr wrap="square" lIns="0" tIns="0" rIns="0" bIns="0" rtlCol="0" anchor="ctr"/>
          <a:lstStyle/>
          <a:p>
            <a:pPr marL="0" indent="0" algn="l">
              <a:buNone/>
            </a:pPr>
            <a:r>
              <a:rPr lang="en-US" sz="1800" b="1" dirty="0">
                <a:solidFill>
                  <a:schemeClr val="accent1"/>
                </a:solidFill>
              </a:rPr>
              <a:t>Key takeaways</a:t>
            </a:r>
            <a:endParaRPr lang="en-US" sz="1800" dirty="0"/>
          </a:p>
        </p:txBody>
      </p:sp>
      <p:sp>
        <p:nvSpPr>
          <p:cNvPr id="5" name="Takeaways"/>
          <p:cNvSpPr txBox="1"/>
          <p:nvPr/>
        </p:nvSpPr>
        <p:spPr>
          <a:xfrm>
            <a:off x="822960" y="2240280"/>
            <a:ext cx="4861408" cy="1920240"/>
          </a:xfrm>
          <a:prstGeom prst="rect">
            <a:avLst/>
          </a:prstGeom>
          <a:noFill/>
          <a:ln/>
        </p:spPr>
        <p:txBody>
          <a:bodyPr wrap="square" lIns="0" tIns="0" rIns="0" bIns="0" rtlCol="0" anchor="t"/>
          <a:lstStyle/>
          <a:p>
            <a:pPr marL="228600" indent="-228600" algn="l">
              <a:spcAft>
                <a:spcPts val="1000"/>
              </a:spcAft>
              <a:buSzPct val="100000"/>
              <a:buChar char="•"/>
            </a:pPr>
            <a:r>
              <a:rPr lang="en-US" sz="1600" dirty="0">
                <a:solidFill>
                  <a:schemeClr val="tx1"/>
                </a:solidFill>
              </a:rPr>
              <a:t>92% of rentals come from registered riders</a:t>
            </a:r>
            <a:endParaRPr lang="en-US" sz="1600" dirty="0"/>
          </a:p>
          <a:p>
            <a:pPr marL="228600" indent="-228600" algn="l">
              <a:spcAft>
                <a:spcPts val="1000"/>
              </a:spcAft>
              <a:buSzPct val="100000"/>
              <a:buChar char="•"/>
            </a:pPr>
            <a:r>
              <a:rPr lang="en-US" sz="1600" dirty="0">
                <a:solidFill>
                  <a:schemeClr val="tx1"/>
                </a:solidFill>
              </a:rPr>
              <a:t>Demand peaks at 8 AM and 5 PM</a:t>
            </a:r>
            <a:endParaRPr lang="en-US" sz="1600" dirty="0"/>
          </a:p>
          <a:p>
            <a:pPr marL="228600" indent="-228600" algn="l">
              <a:spcAft>
                <a:spcPts val="1000"/>
              </a:spcAft>
              <a:buSzPct val="100000"/>
              <a:buChar char="•"/>
            </a:pPr>
            <a:r>
              <a:rPr lang="en-US" sz="1600" dirty="0">
                <a:solidFill>
                  <a:schemeClr val="tx1"/>
                </a:solidFill>
              </a:rPr>
              <a:t>43% of rentals fall in working-day peak hours</a:t>
            </a:r>
            <a:endParaRPr lang="en-US" sz="1600" dirty="0"/>
          </a:p>
          <a:p>
            <a:pPr marL="228600" indent="-228600" algn="l">
              <a:spcAft>
                <a:spcPts val="1000"/>
              </a:spcAft>
              <a:buSzPct val="100000"/>
              <a:buChar char="•"/>
            </a:pPr>
            <a:r>
              <a:rPr lang="en-US" sz="1600" dirty="0">
                <a:solidFill>
                  <a:schemeClr val="tx1"/>
                </a:solidFill>
              </a:rPr>
              <a:t>Weekends bring 2.5x more casual riders per hour</a:t>
            </a:r>
            <a:endParaRPr lang="en-US" sz="1600" dirty="0"/>
          </a:p>
          <a:p>
            <a:pPr marL="228600" indent="-228600" algn="l">
              <a:spcAft>
                <a:spcPts val="1000"/>
              </a:spcAft>
              <a:buSzPct val="100000"/>
              <a:buChar char="•"/>
            </a:pPr>
            <a:r>
              <a:rPr lang="en-US" sz="1600" dirty="0">
                <a:solidFill>
                  <a:schemeClr val="tx1"/>
                </a:solidFill>
              </a:rPr>
              <a:t>Light rain cuts hourly rentals by about 46%</a:t>
            </a:r>
            <a:endParaRPr lang="en-US" sz="1600" dirty="0"/>
          </a:p>
        </p:txBody>
      </p:sp>
      <p:sp>
        <p:nvSpPr>
          <p:cNvPr id="6" name="Limitations card"/>
          <p:cNvSpPr/>
          <p:nvPr/>
        </p:nvSpPr>
        <p:spPr>
          <a:xfrm>
            <a:off x="6233008" y="1417320"/>
            <a:ext cx="5410048" cy="2926080"/>
          </a:xfrm>
          <a:prstGeom prst="roundRect">
            <a:avLst>
              <a:gd name="adj" fmla="val 1875"/>
            </a:avLst>
          </a:prstGeom>
          <a:solidFill>
            <a:schemeClr val="bg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7" name="Text 5"/>
          <p:cNvSpPr txBox="1"/>
          <p:nvPr/>
        </p:nvSpPr>
        <p:spPr>
          <a:xfrm>
            <a:off x="6507328" y="1691640"/>
            <a:ext cx="4861408" cy="365760"/>
          </a:xfrm>
          <a:prstGeom prst="rect">
            <a:avLst/>
          </a:prstGeom>
          <a:noFill/>
          <a:ln/>
        </p:spPr>
        <p:txBody>
          <a:bodyPr wrap="square" lIns="0" tIns="0" rIns="0" bIns="0" rtlCol="0" anchor="ctr"/>
          <a:lstStyle/>
          <a:p>
            <a:pPr marL="0" indent="0" algn="l">
              <a:buNone/>
            </a:pPr>
            <a:r>
              <a:rPr lang="en-US" sz="1800" b="1" dirty="0">
                <a:solidFill>
                  <a:schemeClr val="accent1"/>
                </a:solidFill>
              </a:rPr>
              <a:t>Limitations</a:t>
            </a:r>
            <a:endParaRPr lang="en-US" sz="1800" dirty="0"/>
          </a:p>
        </p:txBody>
      </p:sp>
      <p:sp>
        <p:nvSpPr>
          <p:cNvPr id="8" name="Limitations"/>
          <p:cNvSpPr txBox="1"/>
          <p:nvPr/>
        </p:nvSpPr>
        <p:spPr>
          <a:xfrm>
            <a:off x="6507328" y="2240280"/>
            <a:ext cx="4861408" cy="1920240"/>
          </a:xfrm>
          <a:prstGeom prst="rect">
            <a:avLst/>
          </a:prstGeom>
          <a:noFill/>
          <a:ln/>
        </p:spPr>
        <p:txBody>
          <a:bodyPr wrap="square" lIns="0" tIns="0" rIns="0" bIns="0" rtlCol="0" anchor="t"/>
          <a:lstStyle/>
          <a:p>
            <a:pPr marL="228600" indent="-228600" algn="l">
              <a:spcAft>
                <a:spcPts val="1000"/>
              </a:spcAft>
              <a:buSzPct val="100000"/>
              <a:buChar char="•"/>
            </a:pPr>
            <a:r>
              <a:rPr lang="en-US" sz="1600" dirty="0">
                <a:solidFill>
                  <a:schemeClr val="tx1"/>
                </a:solidFill>
              </a:rPr>
              <a:t>Only 6 weeks of data, winter only</a:t>
            </a:r>
            <a:endParaRPr lang="en-US" sz="1600" dirty="0"/>
          </a:p>
          <a:p>
            <a:pPr marL="228600" indent="-228600" algn="l">
              <a:spcAft>
                <a:spcPts val="1000"/>
              </a:spcAft>
              <a:buSzPct val="100000"/>
              <a:buChar char="•"/>
            </a:pPr>
            <a:r>
              <a:rPr lang="en-US" sz="1600" dirty="0">
                <a:solidFill>
                  <a:schemeClr val="tx1"/>
                </a:solidFill>
              </a:rPr>
              <a:t>64 hours missing from the timeline</a:t>
            </a:r>
            <a:endParaRPr lang="en-US" sz="1600" dirty="0"/>
          </a:p>
          <a:p>
            <a:pPr marL="228600" indent="-228600" algn="l">
              <a:spcAft>
                <a:spcPts val="1000"/>
              </a:spcAft>
              <a:buSzPct val="100000"/>
              <a:buChar char="•"/>
            </a:pPr>
            <a:r>
              <a:rPr lang="en-US" sz="1600" dirty="0">
                <a:solidFill>
                  <a:schemeClr val="tx1"/>
                </a:solidFill>
              </a:rPr>
              <a:t>Temperature and humidity are normalised units</a:t>
            </a:r>
            <a:endParaRPr lang="en-US" sz="1600" dirty="0"/>
          </a:p>
          <a:p>
            <a:pPr marL="228600" indent="-228600" algn="l">
              <a:spcAft>
                <a:spcPts val="1000"/>
              </a:spcAft>
              <a:buSzPct val="100000"/>
              <a:buChar char="•"/>
            </a:pPr>
            <a:r>
              <a:rPr lang="en-US" sz="1600" dirty="0">
                <a:solidFill>
                  <a:schemeClr val="tx1"/>
                </a:solidFill>
              </a:rPr>
              <a:t>Correlation is not causation</a:t>
            </a:r>
            <a:endParaRPr lang="en-US" sz="1600" dirty="0"/>
          </a:p>
        </p:txBody>
      </p:sp>
      <p:sp>
        <p:nvSpPr>
          <p:cNvPr id="9" name="Thank you band"/>
          <p:cNvSpPr/>
          <p:nvPr/>
        </p:nvSpPr>
        <p:spPr>
          <a:xfrm>
            <a:off x="548640" y="4617720"/>
            <a:ext cx="11094415" cy="1508760"/>
          </a:xfrm>
          <a:prstGeom prst="roundRect">
            <a:avLst>
              <a:gd name="adj" fmla="val 3636"/>
            </a:avLst>
          </a:prstGeom>
          <a:solidFill>
            <a:schemeClr val="accent1"/>
          </a:solidFill>
          <a:ln w="9525">
            <a:solidFill>
              <a:srgbClr val="DCDDD8"/>
            </a:solidFill>
            <a:prstDash val="solid"/>
          </a:ln>
          <a:effectLst>
            <a:outerShdw blurRad="63500" dist="19050" dir="5400000" algn="bl" rotWithShape="0">
              <a:srgbClr val="000000">
                <a:alpha val="6000"/>
              </a:srgbClr>
            </a:outerShdw>
          </a:effectLst>
        </p:spPr>
        <p:txBody>
          <a:bodyPr/>
          <a:lstStyle/>
          <a:p>
            <a:endParaRPr lang="en-US"/>
          </a:p>
        </p:txBody>
      </p:sp>
      <p:sp>
        <p:nvSpPr>
          <p:cNvPr id="10" name="Closing bike circle"/>
          <p:cNvSpPr/>
          <p:nvPr/>
        </p:nvSpPr>
        <p:spPr>
          <a:xfrm>
            <a:off x="822960" y="4983480"/>
            <a:ext cx="777240" cy="777240"/>
          </a:xfrm>
          <a:prstGeom prst="ellipse">
            <a:avLst/>
          </a:prstGeom>
          <a:solidFill>
            <a:schemeClr val="accent2"/>
          </a:solidFill>
          <a:ln/>
        </p:spPr>
        <p:txBody>
          <a:bodyPr/>
          <a:lstStyle/>
          <a:p>
            <a:endParaRPr lang="en-US"/>
          </a:p>
        </p:txBody>
      </p:sp>
      <p:pic>
        <p:nvPicPr>
          <p:cNvPr id="11" name="Closing bike icon" descr="preencoded.png"/>
          <p:cNvPicPr>
            <a:picLocks noChangeAspect="1"/>
          </p:cNvPicPr>
          <p:nvPr/>
        </p:nvPicPr>
        <p:blipFill>
          <a:blip r:embed="rId3"/>
          <a:stretch>
            <a:fillRect/>
          </a:stretch>
        </p:blipFill>
        <p:spPr>
          <a:xfrm>
            <a:off x="1017270" y="5177790"/>
            <a:ext cx="388620" cy="388620"/>
          </a:xfrm>
          <a:prstGeom prst="rect">
            <a:avLst/>
          </a:prstGeom>
        </p:spPr>
      </p:pic>
      <p:sp>
        <p:nvSpPr>
          <p:cNvPr id="12" name="Text 9"/>
          <p:cNvSpPr txBox="1"/>
          <p:nvPr/>
        </p:nvSpPr>
        <p:spPr>
          <a:xfrm>
            <a:off x="1874520" y="4800600"/>
            <a:ext cx="5486400" cy="548640"/>
          </a:xfrm>
          <a:prstGeom prst="rect">
            <a:avLst/>
          </a:prstGeom>
          <a:noFill/>
          <a:ln/>
        </p:spPr>
        <p:txBody>
          <a:bodyPr wrap="square" lIns="0" tIns="0" rIns="0" bIns="0" rtlCol="0" anchor="ctr"/>
          <a:lstStyle/>
          <a:p>
            <a:pPr marL="0" indent="0" algn="l">
              <a:buNone/>
            </a:pPr>
            <a:r>
              <a:rPr lang="en-US" sz="3200" b="1" dirty="0">
                <a:solidFill>
                  <a:schemeClr val="bg1"/>
                </a:solidFill>
              </a:rPr>
              <a:t>Thank you</a:t>
            </a:r>
            <a:endParaRPr lang="en-US" sz="3200" dirty="0"/>
          </a:p>
        </p:txBody>
      </p:sp>
      <p:sp>
        <p:nvSpPr>
          <p:cNvPr id="13" name="Text 10"/>
          <p:cNvSpPr txBox="1"/>
          <p:nvPr/>
        </p:nvSpPr>
        <p:spPr>
          <a:xfrm>
            <a:off x="1874520" y="5367528"/>
            <a:ext cx="5486400" cy="320040"/>
          </a:xfrm>
          <a:prstGeom prst="rect">
            <a:avLst/>
          </a:prstGeom>
          <a:noFill/>
          <a:ln/>
        </p:spPr>
        <p:txBody>
          <a:bodyPr wrap="square" lIns="0" tIns="0" rIns="0" bIns="0" rtlCol="0" anchor="ctr"/>
          <a:lstStyle/>
          <a:p>
            <a:pPr marL="0" indent="0" algn="l">
              <a:buNone/>
            </a:pPr>
            <a:r>
              <a:rPr lang="en-US" sz="1600" dirty="0">
                <a:solidFill>
                  <a:srgbClr val="C9CED3"/>
                </a:solidFill>
              </a:rPr>
              <a:t>Questions and feedback are welcome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Bike Share Muted">
  <a:themeElements>
    <a:clrScheme name="Bike Share Muted">
      <a:dk1>
        <a:srgbClr val="2B2B2B"/>
      </a:dk1>
      <a:lt1>
        <a:srgbClr val="FFFFFF"/>
      </a:lt1>
      <a:dk2>
        <a:srgbClr val="2E4057"/>
      </a:dk2>
      <a:lt2>
        <a:srgbClr val="F5F5F2"/>
      </a:lt2>
      <a:accent1>
        <a:srgbClr val="2E4057"/>
      </a:accent1>
      <a:accent2>
        <a:srgbClr val="6B8F8E"/>
      </a:accent2>
      <a:accent3>
        <a:srgbClr val="B9A985"/>
      </a:accent3>
      <a:accent4>
        <a:srgbClr val="B5785F"/>
      </a:accent4>
      <a:accent5>
        <a:srgbClr val="5F6B73"/>
      </a:accent5>
      <a:accent6>
        <a:srgbClr val="9AA1A8"/>
      </a:accent6>
      <a:hlink>
        <a:srgbClr val="6B8F8E"/>
      </a:hlink>
      <a:folHlink>
        <a:srgbClr val="5F6B73"/>
      </a:folHlink>
    </a:clrScheme>
    <a:fontScheme name="Bike Share Mute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2104</Words>
  <Application>Microsoft Macintosh PowerPoint</Application>
  <PresentationFormat>Widescreen</PresentationFormat>
  <Paragraphs>237</Paragraphs>
  <Slides>16</Slides>
  <Notes>16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Bike Share Muted</vt:lpstr>
      <vt:lpstr>Bike sharing demand analysis</vt:lpstr>
      <vt:lpstr>Agenda: from raw data to recommendations</vt:lpstr>
      <vt:lpstr>Goal: explain what drives hourly rentals to plan the fleet</vt:lpstr>
      <vt:lpstr>Three source files combine into 1,000 hourly records</vt:lpstr>
      <vt:lpstr>Merge, append, clean: one analysis-ready table</vt:lpstr>
      <vt:lpstr>15 new features built with core Excel formulas</vt:lpstr>
      <vt:lpstr>Commuters drive demand: 92% of rentals are by registered riders</vt:lpstr>
      <vt:lpstr>Two commute peaks: 8 AM and 5 PM drive the day</vt:lpstr>
      <vt:lpstr>Weekends shift the mix: casual riders more than double</vt:lpstr>
      <vt:lpstr>Rain cuts demand: light rain hours see ~46% fewer rentals</vt:lpstr>
      <vt:lpstr>Warm, dry hours see more rides, but the links are weak</vt:lpstr>
      <vt:lpstr>43% of all rentals happen in working-day peak hours</vt:lpstr>
      <vt:lpstr>One-page Excel dashboard answers these questions interactively</vt:lpstr>
      <vt:lpstr>Demand is predictable: few outliers and a usable forecast</vt:lpstr>
      <vt:lpstr>Six actions to match bikes and staff to demand</vt:lpstr>
      <vt:lpstr>Conclusion: commute, calendar and weather drive demand</vt:lpstr>
    </vt:vector>
  </TitlesOfParts>
  <Company>NextHikes IT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Bike Sharing Demand Analysis</dc:title>
  <dc:subject>NextHikes IT Solutions - Project 1: Data Analysis with Excel</dc:subject>
  <dc:creator>Presenter</dc:creator>
  <cp:lastModifiedBy>Vivek Kumar</cp:lastModifiedBy>
  <cp:revision>2</cp:revision>
  <dcterms:created xsi:type="dcterms:W3CDTF">2026-10-09T19:44:12Z</dcterms:created>
  <dcterms:modified xsi:type="dcterms:W3CDTF">2026-10-09T19:52:07Z</dcterms:modified>
</cp:coreProperties>
</file>